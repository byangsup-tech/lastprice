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인계 대상 업무의 전체 범위를 먼저 보여준 뒤 개별 개념으로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 항목 3종은 정의서 Q4의 전환 정의에서 도출한 축이다.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신정원 결합 데이터 분석 기준. 확정 시 assumed를 해제하고 각주를 출처로 교체한다.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C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인수인계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41248" y="2331720"/>
            <a:ext cx="502920" cy="41148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560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파일럿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 기반 전환 구조와 파일럿 추진 방향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인수인계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요약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인계 업무는 현황 진단부터 전환 이행까지 5단계로 구성됨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3474720"/>
            <a:ext cx="1773936" cy="1005840"/>
          </a:xfrm>
          <a:prstGeom prst="roundRect">
            <a:avLst>
              <a:gd name="adj" fmla="val 7273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4747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진단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05456" y="3840480"/>
            <a:ext cx="356616" cy="274320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35224" y="3474720"/>
            <a:ext cx="1773936" cy="1005840"/>
          </a:xfrm>
          <a:prstGeom prst="roundRect">
            <a:avLst>
              <a:gd name="adj" fmla="val 7273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34747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설계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82312" y="3840480"/>
            <a:ext cx="356616" cy="274320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212080" y="3474720"/>
            <a:ext cx="1773936" cy="1005840"/>
          </a:xfrm>
          <a:prstGeom prst="roundRect">
            <a:avLst>
              <a:gd name="adj" fmla="val 7273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4747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개발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59168" y="3840480"/>
            <a:ext cx="356616" cy="274320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474720"/>
            <a:ext cx="1773936" cy="1005840"/>
          </a:xfrm>
          <a:prstGeom prst="roundRect">
            <a:avLst>
              <a:gd name="adj" fmla="val 7273"/>
            </a:avLst>
          </a:prstGeom>
          <a:solidFill>
            <a:srgbClr val="E9EFFD"/>
          </a:solidFill>
          <a:ln w="15240">
            <a:solidFill>
              <a:srgbClr val="174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88936" y="34747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검증·조정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36024" y="3840480"/>
            <a:ext cx="356616" cy="274320"/>
          </a:xfrm>
          <a:prstGeom prst="rightArrow">
            <a:avLst/>
          </a:prstGeom>
          <a:solidFill>
            <a:srgbClr val="C3C9D4"/>
          </a:solidFill>
          <a:ln/>
        </p:spPr>
      </p:sp>
      <p:sp>
        <p:nvSpPr>
          <p:cNvPr id="20" name="Shape 18"/>
          <p:cNvSpPr/>
          <p:nvPr/>
        </p:nvSpPr>
        <p:spPr>
          <a:xfrm>
            <a:off x="9765792" y="3474720"/>
            <a:ext cx="1773936" cy="1005840"/>
          </a:xfrm>
          <a:prstGeom prst="roundRect">
            <a:avLst>
              <a:gd name="adj" fmla="val 7273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5792" y="34747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이행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단계 구성과 현재 위치는 확정 전(예시), 실제 업무 목록으로 교체 필요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인수인계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정의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전환은 보험기간 중 니즈 변화에 맞춰 상품이 바뀌는 구조임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상품구조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니즈 연동 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1430">
            <a:solidFill>
              <a:srgbClr val="6B728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686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보장 변경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26517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9EFFD"/>
          </a:solidFill>
          <a:ln w="11430">
            <a:solidFill>
              <a:srgbClr val="174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보장 변경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3832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1430">
            <a:solidFill>
              <a:srgbClr val="6B72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68680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니즈 반영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33832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9EFFD"/>
          </a:solidFill>
          <a:ln w="11430">
            <a:solidFill>
              <a:srgbClr val="174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니즈 반영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1148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1430">
            <a:solidFill>
              <a:srgbClr val="6B728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8680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유연성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41148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9EFFD"/>
          </a:solidFill>
          <a:ln w="11430">
            <a:solidFill>
              <a:srgbClr val="174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유연성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전환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493008"/>
            <a:ext cx="1645920" cy="347472"/>
          </a:xfrm>
          <a:prstGeom prst="rightArrow">
            <a:avLst/>
          </a:prstGeom>
          <a:solidFill>
            <a:srgbClr val="C3C9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인수인계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기능 구성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리밸런싱·중도부가·보장전환 기능에 다이나믹 프라이싱을 적용함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대상 상품과 타겟 고객은 고객 데이터 분석으로 설정함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9904" y="2606040"/>
            <a:ext cx="0" cy="1463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4069080"/>
            <a:ext cx="3108960" cy="10058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4069080"/>
            <a:ext cx="3108960" cy="10058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46904" y="22860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리밸런싱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37944" y="47548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37944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55864" y="47548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5864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보장전환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12664" y="3291840"/>
            <a:ext cx="1554480" cy="1554480"/>
          </a:xfrm>
          <a:prstGeom prst="ellipse">
            <a:avLst/>
          </a:prstGeom>
          <a:solidFill>
            <a:srgbClr val="1743E0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3291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다이나믹 프라이싱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인수인계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데이터 분석 결과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사망보험 가입 고객에서 건강보장 공백이 크게 확인됨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98064" y="2606040"/>
            <a:ext cx="3291840" cy="1417320"/>
          </a:xfrm>
          <a:prstGeom prst="rect">
            <a:avLst/>
          </a:prstGeom>
          <a:solidFill>
            <a:srgbClr val="E9EFFD"/>
          </a:solidFill>
          <a:ln/>
        </p:spPr>
      </p:sp>
      <p:sp>
        <p:nvSpPr>
          <p:cNvPr id="9" name="Shape 7"/>
          <p:cNvSpPr/>
          <p:nvPr/>
        </p:nvSpPr>
        <p:spPr>
          <a:xfrm>
            <a:off x="6089904" y="2606040"/>
            <a:ext cx="0" cy="28346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4023360"/>
            <a:ext cx="65836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4059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건강보험 미보유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4059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건강보험 보유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63056" y="2350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사망보험 보유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63056" y="5477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사망보험 미보유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72384" y="3177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공백군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(우선 접근)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3177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완비군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72384" y="45948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미보유군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45948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건강만 보유군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분석 결과는 확정 전(예시), 기준 시점·표본·출처 명기 필요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전환 인수인계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제안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종신보험에 무사고전환·중도부가·적립금 보장전환을 더한 파일럿을 제안함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종신보험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종신보험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1430">
            <a:solidFill>
              <a:srgbClr val="6B728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686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26517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9EFFD"/>
          </a:solidFill>
          <a:ln w="11430">
            <a:solidFill>
              <a:srgbClr val="174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3832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1430">
            <a:solidFill>
              <a:srgbClr val="6B72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68680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338328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9EFFD"/>
          </a:solidFill>
          <a:ln w="11430">
            <a:solidFill>
              <a:srgbClr val="174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3832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1148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1430">
            <a:solidFill>
              <a:srgbClr val="6B728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8680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적립금 보장전환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41148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9EFFD"/>
          </a:solidFill>
          <a:ln w="11430">
            <a:solidFill>
              <a:srgbClr val="174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적립금 보장전환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182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493008"/>
            <a:ext cx="1645920" cy="347472"/>
          </a:xfrm>
          <a:prstGeom prst="rightArrow">
            <a:avLst/>
          </a:prstGeom>
          <a:solidFill>
            <a:srgbClr val="C3C9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상품구조 전환 파일럿 업무 인수인계</dc:title>
  <dc:subject>PptxGenJS Presentation</dc:subject>
  <dc:creator>PptxGenJS</dc:creator>
  <cp:lastModifiedBy>PptxGenJS</cp:lastModifiedBy>
  <cp:revision>1</cp:revision>
  <dcterms:created xsi:type="dcterms:W3CDTF">2026-08-11T13:03:06Z</dcterms:created>
  <dcterms:modified xsi:type="dcterms:W3CDTF">2026-08-11T13:03:06Z</dcterms:modified>
</cp:coreProperties>
</file>