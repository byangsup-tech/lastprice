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계약 안에서 요율과 담보가 함께 움직인다는 것이 핵심 — 두 기능이 별개 옵션이 아니라 다이나믹 프라이싱 위에서 작동함을 구두로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FC8D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상품구조 Transformation  |  파일럿 컨셉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41248" y="2331720"/>
            <a:ext cx="502920" cy="41148"/>
          </a:xfrm>
          <a:prstGeom prst="rect">
            <a:avLst/>
          </a:prstGeom>
          <a:solidFill>
            <a:srgbClr val="4FC8DF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25603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New종신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보험기간 중 요율 재산정과 담보 변경이 가능한 간편고지 종신보험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0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상품개발팀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New종신 컨셉 보고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291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개요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418320" y="402336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4FC8DF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402336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컨셉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" y="1005840"/>
            <a:ext cx="11530584" cy="5541264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7572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243584"/>
            <a:ext cx="64008" cy="45720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보험기간 중 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highlight>
                  <a:srgbClr val="FFF04D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요율 재산정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 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highlight>
                  <a:srgbClr val="FFF04D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담보 변경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가능한 간편고지 종신보험임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77824" y="17922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간편고지 3·1·5~3·5·5 종신 + 통합한도 건강담보 1종, 해지·재가입 없이 한 계약 내에서 변경함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2286000"/>
            <a:ext cx="4997196" cy="475488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286000"/>
            <a:ext cx="49971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무사고 전환 (리밸런싱)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8368" y="2761488"/>
            <a:ext cx="4997196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761488"/>
            <a:ext cx="463143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무사고 1년마다 요율등급 1단계 하향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3·5·5  ·  해지 없이 전환  ·  정산금 지급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4224528"/>
            <a:ext cx="4997196" cy="502920"/>
          </a:xfrm>
          <a:prstGeom prst="rect">
            <a:avLst/>
          </a:prstGeom>
          <a:solidFill>
            <a:srgbClr val="DFF6FA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4224528"/>
            <a:ext cx="49971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6D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보험료 인하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06440" y="3063240"/>
            <a:ext cx="585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3C9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en-US" sz="3400" dirty="0"/>
          </a:p>
        </p:txBody>
      </p:sp>
      <p:sp>
        <p:nvSpPr>
          <p:cNvPr id="18" name="Shape 16"/>
          <p:cNvSpPr/>
          <p:nvPr/>
        </p:nvSpPr>
        <p:spPr>
          <a:xfrm>
            <a:off x="6542532" y="2286000"/>
            <a:ext cx="4997196" cy="475488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19" name="Text 17"/>
          <p:cNvSpPr/>
          <p:nvPr/>
        </p:nvSpPr>
        <p:spPr>
          <a:xfrm>
            <a:off x="6542532" y="2286000"/>
            <a:ext cx="49971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중도부가 · 보장전환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42532" y="2761488"/>
            <a:ext cx="4997196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5412" y="2761488"/>
            <a:ext cx="463143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보험기간 중 담보 추가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재원: 추가 보험료(중도부가) · 적립금(보장전환)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담보 동일  ·  니즈 시점에 결정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42532" y="4224528"/>
            <a:ext cx="4997196" cy="502920"/>
          </a:xfrm>
          <a:prstGeom prst="rect">
            <a:avLst/>
          </a:prstGeom>
          <a:solidFill>
            <a:srgbClr val="ECEEFD"/>
          </a:solidFill>
          <a:ln/>
        </p:spPr>
      </p:sp>
      <p:sp>
        <p:nvSpPr>
          <p:cNvPr id="23" name="Text 21"/>
          <p:cNvSpPr/>
          <p:nvPr/>
        </p:nvSpPr>
        <p:spPr>
          <a:xfrm>
            <a:off x="6542532" y="4224528"/>
            <a:ext cx="49971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44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담보 추가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8368" y="4956048"/>
            <a:ext cx="10881360" cy="54864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956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다이나믹 프라이싱: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두 기능의 작동 전제로 모든 변경 시점에 그 시점 건강으로 재산정, 거절 없는 인수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" y="57424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타사 유사 기능은 대상·금액·시점이 가입 시점에 확정됨(삼성·DB·신한 동일), New종신은 보험기간 중 변경 가능함 (출처 확인 필요)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6272784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3·1·5: 3개월 치료이력 · 1년 입원수술 · 5년 중대질병 고지, 뒤로 갈수록 완화된 등급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New종신 컨셉 보고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291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무사고 전환 (리밸런싱)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418320" y="402336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4FC8DF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402336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➊ 요율등급 하향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" y="1005840"/>
            <a:ext cx="11530584" cy="5541264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7572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243584"/>
            <a:ext cx="64008" cy="45720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무사고 1년마다 요율등급이 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highlight>
                  <a:srgbClr val="FFF04D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 하향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됨 (최대 3·5·5)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77824" y="17922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해지 없이 전환되어 면책·감액 기간 미발생, 등급 간 준비금 차액은 정산금으로 지급됨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2267712"/>
            <a:ext cx="10881360" cy="36576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26771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무사고 기간 경과에 따른 보험료 추이  (예시)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2633472"/>
            <a:ext cx="10881360" cy="3200400"/>
          </a:xfrm>
          <a:prstGeom prst="rect">
            <a:avLst/>
          </a:prstGeom>
          <a:solidFill>
            <a:srgbClr val="FBFCFE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7432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보험료 지수 (가입 = 100)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234440" y="3355848"/>
            <a:ext cx="9966960" cy="0"/>
          </a:xfrm>
          <a:prstGeom prst="line">
            <a:avLst/>
          </a:prstGeom>
          <a:noFill/>
          <a:ln w="9525">
            <a:solidFill>
              <a:srgbClr val="C3C9D4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1280160" y="31363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 시점 100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636776" y="3355848"/>
            <a:ext cx="566928" cy="1719072"/>
          </a:xfrm>
          <a:prstGeom prst="rect">
            <a:avLst/>
          </a:prstGeom>
          <a:solidFill>
            <a:srgbClr val="C3C9D4"/>
          </a:solidFill>
          <a:ln/>
        </p:spPr>
      </p:sp>
      <p:sp>
        <p:nvSpPr>
          <p:cNvPr id="18" name="Text 16"/>
          <p:cNvSpPr/>
          <p:nvPr/>
        </p:nvSpPr>
        <p:spPr>
          <a:xfrm>
            <a:off x="1225296" y="289864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간편고지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58568" y="3355848"/>
            <a:ext cx="566928" cy="1719072"/>
          </a:xfrm>
          <a:prstGeom prst="rect">
            <a:avLst/>
          </a:prstGeom>
          <a:solidFill>
            <a:srgbClr val="1743E0"/>
          </a:solidFill>
          <a:ln/>
        </p:spPr>
      </p:sp>
      <p:sp>
        <p:nvSpPr>
          <p:cNvPr id="20" name="Text 18"/>
          <p:cNvSpPr/>
          <p:nvPr/>
        </p:nvSpPr>
        <p:spPr>
          <a:xfrm>
            <a:off x="1847088" y="289864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New종신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258568" y="481888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30552" y="311810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3·1·5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545336" y="5148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30168" y="3355848"/>
            <a:ext cx="566928" cy="1719072"/>
          </a:xfrm>
          <a:prstGeom prst="rect">
            <a:avLst/>
          </a:prstGeom>
          <a:solidFill>
            <a:srgbClr val="C3C9D4"/>
          </a:solidFill>
          <a:ln/>
        </p:spPr>
      </p:sp>
      <p:sp>
        <p:nvSpPr>
          <p:cNvPr id="25" name="Shape 23"/>
          <p:cNvSpPr/>
          <p:nvPr/>
        </p:nvSpPr>
        <p:spPr>
          <a:xfrm>
            <a:off x="4251960" y="3458992"/>
            <a:ext cx="566928" cy="1615928"/>
          </a:xfrm>
          <a:prstGeom prst="rect">
            <a:avLst/>
          </a:prstGeom>
          <a:solidFill>
            <a:srgbClr val="1743E0"/>
          </a:solidFill>
          <a:ln/>
        </p:spPr>
      </p:sp>
      <p:sp>
        <p:nvSpPr>
          <p:cNvPr id="26" name="Text 24"/>
          <p:cNvSpPr/>
          <p:nvPr/>
        </p:nvSpPr>
        <p:spPr>
          <a:xfrm>
            <a:off x="4251960" y="481888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23944" y="32212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3·2·5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538728" y="5148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+1년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23560" y="3355848"/>
            <a:ext cx="566928" cy="1719072"/>
          </a:xfrm>
          <a:prstGeom prst="rect">
            <a:avLst/>
          </a:prstGeom>
          <a:solidFill>
            <a:srgbClr val="C3C9D4"/>
          </a:solidFill>
          <a:ln/>
        </p:spPr>
      </p:sp>
      <p:sp>
        <p:nvSpPr>
          <p:cNvPr id="30" name="Shape 28"/>
          <p:cNvSpPr/>
          <p:nvPr/>
        </p:nvSpPr>
        <p:spPr>
          <a:xfrm>
            <a:off x="6245352" y="3562137"/>
            <a:ext cx="566928" cy="1512783"/>
          </a:xfrm>
          <a:prstGeom prst="rect">
            <a:avLst/>
          </a:prstGeom>
          <a:solidFill>
            <a:srgbClr val="1743E0"/>
          </a:solidFill>
          <a:ln/>
        </p:spPr>
      </p:sp>
      <p:sp>
        <p:nvSpPr>
          <p:cNvPr id="31" name="Text 29"/>
          <p:cNvSpPr/>
          <p:nvPr/>
        </p:nvSpPr>
        <p:spPr>
          <a:xfrm>
            <a:off x="6245352" y="481888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17336" y="3324393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3·3·5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532120" y="5148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+2년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616952" y="3355848"/>
            <a:ext cx="566928" cy="1719072"/>
          </a:xfrm>
          <a:prstGeom prst="rect">
            <a:avLst/>
          </a:prstGeom>
          <a:solidFill>
            <a:srgbClr val="C3C9D4"/>
          </a:solidFill>
          <a:ln/>
        </p:spPr>
      </p:sp>
      <p:sp>
        <p:nvSpPr>
          <p:cNvPr id="35" name="Shape 33"/>
          <p:cNvSpPr/>
          <p:nvPr/>
        </p:nvSpPr>
        <p:spPr>
          <a:xfrm>
            <a:off x="8238744" y="3648090"/>
            <a:ext cx="566928" cy="1426830"/>
          </a:xfrm>
          <a:prstGeom prst="rect">
            <a:avLst/>
          </a:prstGeom>
          <a:solidFill>
            <a:srgbClr val="1743E0"/>
          </a:solidFill>
          <a:ln/>
        </p:spPr>
      </p:sp>
      <p:sp>
        <p:nvSpPr>
          <p:cNvPr id="36" name="Text 34"/>
          <p:cNvSpPr/>
          <p:nvPr/>
        </p:nvSpPr>
        <p:spPr>
          <a:xfrm>
            <a:off x="8238744" y="481888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110728" y="341034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3·4·5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525512" y="5148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+3년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610344" y="3355848"/>
            <a:ext cx="566928" cy="1719072"/>
          </a:xfrm>
          <a:prstGeom prst="rect">
            <a:avLst/>
          </a:prstGeom>
          <a:solidFill>
            <a:srgbClr val="C3C9D4"/>
          </a:solidFill>
          <a:ln/>
        </p:spPr>
      </p:sp>
      <p:sp>
        <p:nvSpPr>
          <p:cNvPr id="40" name="Shape 38"/>
          <p:cNvSpPr/>
          <p:nvPr/>
        </p:nvSpPr>
        <p:spPr>
          <a:xfrm>
            <a:off x="10232136" y="3734044"/>
            <a:ext cx="566928" cy="1340876"/>
          </a:xfrm>
          <a:prstGeom prst="rect">
            <a:avLst/>
          </a:prstGeom>
          <a:solidFill>
            <a:srgbClr val="1743E0"/>
          </a:solidFill>
          <a:ln/>
        </p:spPr>
      </p:sp>
      <p:sp>
        <p:nvSpPr>
          <p:cNvPr id="41" name="Text 39"/>
          <p:cNvSpPr/>
          <p:nvPr/>
        </p:nvSpPr>
        <p:spPr>
          <a:xfrm>
            <a:off x="10232136" y="481888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104120" y="34963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3·5·5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518904" y="5148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+4년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234440" y="5074920"/>
            <a:ext cx="9966960" cy="0"/>
          </a:xfrm>
          <a:prstGeom prst="line">
            <a:avLst/>
          </a:prstGeom>
          <a:noFill/>
          <a:ln w="12700">
            <a:solidFill>
              <a:srgbClr val="5A647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95360" y="53949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4등급 하향 · 보험료 22% 인하 (예시)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206240" y="2724912"/>
            <a:ext cx="3072384" cy="420624"/>
          </a:xfrm>
          <a:prstGeom prst="roundRect">
            <a:avLst>
              <a:gd name="adj" fmla="val 21739"/>
            </a:avLst>
          </a:prstGeom>
          <a:solidFill>
            <a:srgbClr val="FFF9D6"/>
          </a:solidFill>
          <a:ln w="12700">
            <a:solidFill>
              <a:srgbClr val="E7C93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06240" y="2724912"/>
            <a:ext cx="3072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 하향 시 준비금 차액을 정산금으로 지급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 rot="10800000">
            <a:off x="4526280" y="3136392"/>
            <a:ext cx="201168" cy="137160"/>
          </a:xfrm>
          <a:prstGeom prst="triangle">
            <a:avLst/>
          </a:prstGeom>
          <a:solidFill>
            <a:srgbClr val="FFF9D6"/>
          </a:solidFill>
          <a:ln w="12700">
            <a:solidFill>
              <a:srgbClr val="E7C93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960" y="5925312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39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  기존: 인하 수단은 해지 후 재가입  →  보장 공백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355080" y="5925312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 New종신: 해지 없이 전환 · 정산금 지급 · 공백 없음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22960" y="6272784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보험료 지수는 예시 가정(등급당 5~6%)이며 실제 요율은 산출 결과에 따름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New종신 컨셉 보고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291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중도부가 · 보장전환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418320" y="402336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4FC8DF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402336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➋ 담보 추가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" y="1005840"/>
            <a:ext cx="11530584" cy="5541264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7572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243584"/>
            <a:ext cx="64008" cy="45720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보험기간 중 담보를 추가할 수 있음, 시점·재원은 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highlight>
                  <a:srgbClr val="FFF04D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선택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77824" y="17922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재원은 추가 보험료(중도부가) 또는 적립금(보장전환), 대상 담보는 동일함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2267712"/>
            <a:ext cx="10881360" cy="36576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26771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가입자 여정 (30세 가입 예시)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2633472"/>
            <a:ext cx="10881360" cy="3127248"/>
          </a:xfrm>
          <a:prstGeom prst="rect">
            <a:avLst/>
          </a:prstGeom>
          <a:solidFill>
            <a:srgbClr val="FBFCFE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980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구성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05840" y="3730752"/>
            <a:ext cx="10241280" cy="475488"/>
          </a:xfrm>
          <a:prstGeom prst="rect">
            <a:avLst/>
          </a:prstGeom>
          <a:solidFill>
            <a:srgbClr val="E9EFFD"/>
          </a:solidFill>
          <a:ln w="9525">
            <a:solidFill>
              <a:srgbClr val="1743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373075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종신사망 (주계약)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4308" y="3364992"/>
            <a:ext cx="5212812" cy="329184"/>
          </a:xfrm>
          <a:prstGeom prst="rect">
            <a:avLst/>
          </a:prstGeom>
          <a:solidFill>
            <a:srgbClr val="ECEEFD"/>
          </a:solidFill>
          <a:ln w="9525">
            <a:solidFill>
              <a:srgbClr val="7C86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1468" y="336499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44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정기특약(사망보장 증액)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4308" y="3364992"/>
            <a:ext cx="0" cy="1188720"/>
          </a:xfrm>
          <a:prstGeom prst="line">
            <a:avLst/>
          </a:prstGeom>
          <a:noFill/>
          <a:ln w="9525">
            <a:solidFill>
              <a:srgbClr val="C3C9D4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778972" y="2999232"/>
            <a:ext cx="2468148" cy="329184"/>
          </a:xfrm>
          <a:prstGeom prst="rect">
            <a:avLst/>
          </a:prstGeom>
          <a:solidFill>
            <a:srgbClr val="ECEEFD"/>
          </a:solidFill>
          <a:ln w="9525">
            <a:solidFill>
              <a:srgbClr val="7C86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16132" y="2999232"/>
            <a:ext cx="22852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44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월렛 특약(통합한도 건강)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778972" y="2999232"/>
            <a:ext cx="0" cy="1554480"/>
          </a:xfrm>
          <a:prstGeom prst="line">
            <a:avLst/>
          </a:prstGeom>
          <a:noFill/>
          <a:ln w="9525">
            <a:solidFill>
              <a:srgbClr val="C3C9D4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005840" y="4846320"/>
            <a:ext cx="10241280" cy="0"/>
          </a:xfrm>
          <a:prstGeom prst="line">
            <a:avLst/>
          </a:prstGeom>
          <a:noFill/>
          <a:ln w="19050">
            <a:solidFill>
              <a:srgbClr val="0F1E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5400000">
            <a:off x="11228832" y="4773168"/>
            <a:ext cx="146304" cy="146304"/>
          </a:xfrm>
          <a:prstGeom prst="triangle">
            <a:avLst/>
          </a:prstGeom>
          <a:solidFill>
            <a:srgbClr val="0F1E5A"/>
          </a:solidFill>
          <a:ln/>
        </p:spPr>
      </p:sp>
      <p:sp>
        <p:nvSpPr>
          <p:cNvPr id="25" name="Shape 23"/>
          <p:cNvSpPr/>
          <p:nvPr/>
        </p:nvSpPr>
        <p:spPr>
          <a:xfrm>
            <a:off x="1485717" y="4773168"/>
            <a:ext cx="146304" cy="146304"/>
          </a:xfrm>
          <a:prstGeom prst="ellipse">
            <a:avLst/>
          </a:prstGeom>
          <a:solidFill>
            <a:srgbClr val="5A647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3069" y="49743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30세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8749" y="51937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4429" y="53949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종신사망만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953866" y="4773168"/>
            <a:ext cx="146304" cy="146304"/>
          </a:xfrm>
          <a:prstGeom prst="ellipse">
            <a:avLst/>
          </a:prstGeom>
          <a:solidFill>
            <a:srgbClr val="4FC8D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41218" y="49743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35세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066898" y="51937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C8D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무사고 전환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92578" y="53949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3·1·5→3·2·5 · 정산금 (예시)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961156" y="4773168"/>
            <a:ext cx="146304" cy="146304"/>
          </a:xfrm>
          <a:prstGeom prst="ellipse">
            <a:avLst/>
          </a:prstGeom>
          <a:solidFill>
            <a:srgbClr val="7C86F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48508" y="49743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36세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74188" y="51937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8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정기특약 중도부가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257068" y="5413248"/>
            <a:ext cx="155448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C86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57068" y="54132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8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재원: 추가 보험료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705820" y="4773168"/>
            <a:ext cx="146304" cy="146304"/>
          </a:xfrm>
          <a:prstGeom prst="ellipse">
            <a:avLst/>
          </a:prstGeom>
          <a:solidFill>
            <a:srgbClr val="7C86F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93172" y="49743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55세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818852" y="51937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8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월렛 보장전환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001732" y="5413248"/>
            <a:ext cx="155448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C86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01732" y="54132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8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재원: 적립금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58368" y="5870448"/>
            <a:ext cx="10881360" cy="329184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44" name="Text 42"/>
          <p:cNvSpPr/>
          <p:nvPr/>
        </p:nvSpPr>
        <p:spPr>
          <a:xfrm>
            <a:off x="658368" y="587044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다이나믹 프라이싱: 모든 변경 시점에 그 시점 건강으로 재산정, 악화 시에도 거절 없음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22960" y="6272784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여정·연령은 예시, 중도부가·보장전환의 대상 담보는 동일하며 재원만 상이함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New종신 컨셉 보고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291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다이나믹 프라이싱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418320" y="402336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4FC8DF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402336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➌ 요율 재산정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" y="1005840"/>
            <a:ext cx="11530584" cy="5541264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7572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243584"/>
            <a:ext cx="64008" cy="45720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변경 시점에 그 시점 건강으로 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highlight>
                  <a:srgbClr val="FFF04D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요율을 재산정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77824" y="17922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간편고지 3문항 · 무조건 인수, 무사고 전환·중도부가·보장전환 모두 이 재산정을 전제로 작동함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0" y="2395728"/>
            <a:ext cx="3703320" cy="365760"/>
          </a:xfrm>
          <a:prstGeom prst="rect">
            <a:avLst/>
          </a:prstGeom>
          <a:solidFill>
            <a:srgbClr val="5A6472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3957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간편고지 종신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35240" y="2395728"/>
            <a:ext cx="3904488" cy="365760"/>
          </a:xfrm>
          <a:prstGeom prst="rect">
            <a:avLst/>
          </a:prstGeom>
          <a:solidFill>
            <a:srgbClr val="1743E0"/>
          </a:solidFill>
          <a:ln/>
        </p:spPr>
      </p:sp>
      <p:sp>
        <p:nvSpPr>
          <p:cNvPr id="14" name="Text 12"/>
          <p:cNvSpPr/>
          <p:nvPr/>
        </p:nvSpPr>
        <p:spPr>
          <a:xfrm>
            <a:off x="7635240" y="2395728"/>
            <a:ext cx="3904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New종신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20040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0F1E5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건강 개선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36941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무사고 4년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0" y="3108960"/>
            <a:ext cx="3703320" cy="1115568"/>
          </a:xfrm>
          <a:prstGeom prst="rect">
            <a:avLst/>
          </a:prstGeom>
          <a:solidFill>
            <a:srgbClr val="FDF1EF"/>
          </a:solidFill>
          <a:ln w="9525">
            <a:solidFill>
              <a:srgbClr val="C639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3108960"/>
            <a:ext cx="3337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C639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  보험료 변동 없음</a:t>
            </a:r>
            <a:endParaRPr lang="en-US" sz="13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 요율로 만기까지 지수 100 유지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635240" y="3108960"/>
            <a:ext cx="3904488" cy="1115568"/>
          </a:xfrm>
          <a:prstGeom prst="rect">
            <a:avLst/>
          </a:prstGeom>
          <a:solidFill>
            <a:srgbClr val="E9EFFD"/>
          </a:solidFill>
          <a:ln w="9525">
            <a:solidFill>
              <a:srgbClr val="1743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3108960"/>
            <a:ext cx="35387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 3·5·5 인하 + 정산금</a:t>
            </a:r>
            <a:endParaRPr lang="en-US" sz="13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보험료 지수 100 → 78 (예시)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22960" y="457200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0F1E5A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572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건강 악화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50657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고혈압 진단 (예시)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0" y="4480560"/>
            <a:ext cx="3703320" cy="1115568"/>
          </a:xfrm>
          <a:prstGeom prst="rect">
            <a:avLst/>
          </a:prstGeom>
          <a:solidFill>
            <a:srgbClr val="FDF1EF"/>
          </a:solidFill>
          <a:ln w="9525">
            <a:solidFill>
              <a:srgbClr val="C639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0" y="4480560"/>
            <a:ext cx="3337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C639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  거절 또는 부담보</a:t>
            </a:r>
            <a:endParaRPr lang="en-US" sz="13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보장을 추가할 수 없음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635240" y="4480560"/>
            <a:ext cx="3904488" cy="1115568"/>
          </a:xfrm>
          <a:prstGeom prst="rect">
            <a:avLst/>
          </a:prstGeom>
          <a:solidFill>
            <a:srgbClr val="E9EFFD"/>
          </a:solidFill>
          <a:ln w="9525">
            <a:solidFill>
              <a:srgbClr val="1743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18120" y="4480560"/>
            <a:ext cx="35387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 3·4·5 인수 · 거절 없음</a:t>
            </a:r>
            <a:endParaRPr lang="en-US" sz="13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시점 등급으로 요율 반영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657600" y="577900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39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개선·악화 모두 미반영됨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35240" y="5779008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개선·악화 모두 그 시점 요율로 반영됨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6272784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지수는 등급당 5~6% 가정 예시, 재산정 발생 시점은 무사고 전환·중도부가·보장전환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New종신 컨셉 보고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291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기대 효과 및 검토 필요 사항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418320" y="402336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4FC8DF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402336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효과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" y="1005840"/>
            <a:ext cx="11530584" cy="5541264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7572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243584"/>
            <a:ext cx="64008" cy="45720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건강 변화·니즈 발생 시점의 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highlight>
                  <a:srgbClr val="FFF04D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결과가 개선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됨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77824" y="17922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 대상: 사망담보(요율 고정 기간 최장, 담보 수 최소로 기능 검증 가능)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2286000"/>
            <a:ext cx="4846320" cy="365760"/>
          </a:xfrm>
          <a:prstGeom prst="rect">
            <a:avLst/>
          </a:prstGeom>
          <a:solidFill>
            <a:srgbClr val="5A6472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286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종신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93408" y="2286000"/>
            <a:ext cx="4846320" cy="365760"/>
          </a:xfrm>
          <a:prstGeom prst="rect">
            <a:avLst/>
          </a:prstGeom>
          <a:solidFill>
            <a:srgbClr val="1743E0"/>
          </a:solidFill>
          <a:ln/>
        </p:spPr>
      </p:sp>
      <p:sp>
        <p:nvSpPr>
          <p:cNvPr id="14" name="Text 12"/>
          <p:cNvSpPr/>
          <p:nvPr/>
        </p:nvSpPr>
        <p:spPr>
          <a:xfrm>
            <a:off x="6693408" y="2286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New종신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2889504"/>
            <a:ext cx="4343400" cy="1188720"/>
          </a:xfrm>
          <a:prstGeom prst="roundRect">
            <a:avLst>
              <a:gd name="adj" fmla="val 4615"/>
            </a:avLst>
          </a:prstGeom>
          <a:solidFill>
            <a:srgbClr val="ECEFF3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2889504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639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  건강 개선 시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요율 변동 없음, 인하 수단은 해지·재가입뿐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4261104"/>
            <a:ext cx="4343400" cy="1188720"/>
          </a:xfrm>
          <a:prstGeom prst="roundRect">
            <a:avLst>
              <a:gd name="adj" fmla="val 4615"/>
            </a:avLst>
          </a:prstGeom>
          <a:solidFill>
            <a:srgbClr val="ECEFF3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261104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639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  보장 니즈 발생 시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불가, 악화 시 신규 가입도 거절·부담보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49440" y="2889504"/>
            <a:ext cx="4343400" cy="1188720"/>
          </a:xfrm>
          <a:prstGeom prst="roundRect">
            <a:avLst>
              <a:gd name="adj" fmla="val 4615"/>
            </a:avLst>
          </a:prstGeom>
          <a:solidFill>
            <a:srgbClr val="0F1E5A"/>
          </a:solidFill>
          <a:ln/>
        </p:spPr>
      </p:sp>
      <p:sp>
        <p:nvSpPr>
          <p:cNvPr id="20" name="Text 18"/>
          <p:cNvSpPr/>
          <p:nvPr/>
        </p:nvSpPr>
        <p:spPr>
          <a:xfrm>
            <a:off x="7178040" y="2889504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 건강 개선 시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7D2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요율등급 하향(최대 22% 인하 예시) + 정산금 지급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49440" y="4261104"/>
            <a:ext cx="4343400" cy="1188720"/>
          </a:xfrm>
          <a:prstGeom prst="roundRect">
            <a:avLst>
              <a:gd name="adj" fmla="val 4615"/>
            </a:avLst>
          </a:prstGeom>
          <a:solidFill>
            <a:srgbClr val="0F1E5A"/>
          </a:solidFill>
          <a:ln/>
        </p:spPr>
      </p:sp>
      <p:sp>
        <p:nvSpPr>
          <p:cNvPr id="22" name="Text 20"/>
          <p:cNvSpPr/>
          <p:nvPr/>
        </p:nvSpPr>
        <p:spPr>
          <a:xfrm>
            <a:off x="7178040" y="4261104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 보장 니즈 발생 시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7D2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중도부가·보장전환으로 추가, 거절 없음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715000" y="3977640"/>
            <a:ext cx="502920" cy="402336"/>
          </a:xfrm>
          <a:prstGeom prst="rightArrow">
            <a:avLst/>
          </a:prstGeom>
          <a:solidFill>
            <a:srgbClr val="1743E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5760720"/>
            <a:ext cx="1088136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76072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필요 사항 (병행 진행 중)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계리: 무사고·사망률 상관 검증, 정산금 구조      ② 규제: 중도부가 분류, 정산금 법적 성격      ③ 채널: 수수료 구조 정합성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2960" y="6272784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인하 폭은 등급당 5~6% 가정의 예시임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New종신</dc:title>
  <dc:subject>PptxGenJS Presentation</dc:subject>
  <dc:creator>상품개발팀</dc:creator>
  <cp:lastModifiedBy>상품개발팀</cp:lastModifiedBy>
  <cp:revision>1</cp:revision>
  <dcterms:created xsi:type="dcterms:W3CDTF">2026-08-09T14:59:39Z</dcterms:created>
  <dcterms:modified xsi:type="dcterms:W3CDTF">2026-08-09T14:59:39Z</dcterms:modified>
</cp:coreProperties>
</file>