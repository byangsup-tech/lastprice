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C8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상품구조 Transformation  |  파일럿 컨셉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41248" y="2331720"/>
            <a:ext cx="502920" cy="41148"/>
          </a:xfrm>
          <a:prstGeom prst="rect">
            <a:avLst/>
          </a:prstGeom>
          <a:solidFill>
            <a:srgbClr val="4FC8DF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2560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보험기간 중 요율 재산정과 담보 변경이 가능한 간편고지 종신보험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상품개발팀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 컨셉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개요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컨셉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보험기간 중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요율 재산정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변경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가능한 간편고지 종신보험임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간편고지 3·1·5~3·5·5 종신 + 통합한도 건강담보 1종, 해지·재가입 없이 한 계약 내에서 변경함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86000"/>
            <a:ext cx="5074920" cy="475488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8600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전환 (리밸런싱)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761488"/>
            <a:ext cx="507492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761488"/>
            <a:ext cx="4709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1년마다 요율등급 1단계 하향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3·5·5  ·  해지 없이 전환  ·  정산금 지급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224528"/>
            <a:ext cx="5074920" cy="502920"/>
          </a:xfrm>
          <a:prstGeom prst="rect">
            <a:avLst/>
          </a:prstGeom>
          <a:solidFill>
            <a:srgbClr val="DF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2245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6D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인하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64808" y="2286000"/>
            <a:ext cx="5074920" cy="475488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228600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중도부가 · 보장전환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64808" y="2761488"/>
            <a:ext cx="507492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2761488"/>
            <a:ext cx="4709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보험기간 중 담보 추가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재원: 추가 보험료(중도부가) · 적립금(보장전환)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담보 동일  ·  니즈 시점에 결정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64808" y="4224528"/>
            <a:ext cx="5074920" cy="502920"/>
          </a:xfrm>
          <a:prstGeom prst="rect">
            <a:avLst/>
          </a:prstGeom>
          <a:solidFill>
            <a:srgbClr val="ECEEFD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42245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4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추가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3063240"/>
            <a:ext cx="58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3C9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658368" y="4956048"/>
            <a:ext cx="10881360" cy="54864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956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다이나믹 프라이싱: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두 기능의 작동 전제로 모든 변경 시점에 그 시점 건강으로 재산정, 거절 없는 인수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57424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타사 유사 기능은 대상·금액·시점이 가입 시점에 확정됨(삼성·DB·신한 동일), New종신은 보험기간 중 변경 가능함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614476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3·1·5: 3개월 치료이력 · 1년 입원수술 · 5년 중대질병 고지, 뒤로 갈수록 완화된 등급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 컨셉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무사고 전환 (리밸런싱)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➊ 요율등급 하향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1년마다 요율등급이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하향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됨 (최대 3·5·5)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해지 없이 전환되어 면책·감액 기간 미발생, 등급 간 준비금 차액은 정산금으로 지급됨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기간 경과에 따른 보험료 추이  (예시)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633472"/>
            <a:ext cx="10881360" cy="3200400"/>
          </a:xfrm>
          <a:prstGeom prst="rect">
            <a:avLst/>
          </a:prstGeom>
          <a:solidFill>
            <a:srgbClr val="FBFCFE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지수 (가입 = 100)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55280" y="2761488"/>
            <a:ext cx="164592" cy="16459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27432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간편고지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418320" y="2761488"/>
            <a:ext cx="164592" cy="164592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18" name="Text 16"/>
          <p:cNvSpPr/>
          <p:nvPr/>
        </p:nvSpPr>
        <p:spPr>
          <a:xfrm>
            <a:off x="9619488" y="2743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34440" y="3355848"/>
            <a:ext cx="9966960" cy="0"/>
          </a:xfrm>
          <a:prstGeom prst="line">
            <a:avLst/>
          </a:prstGeom>
          <a:noFill/>
          <a:ln w="9525">
            <a:solidFill>
              <a:srgbClr val="C3C9D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280160" y="31363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시점 100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563624" y="3355848"/>
            <a:ext cx="566928" cy="171907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22" name="Shape 20"/>
          <p:cNvSpPr/>
          <p:nvPr/>
        </p:nvSpPr>
        <p:spPr>
          <a:xfrm>
            <a:off x="2240280" y="3355848"/>
            <a:ext cx="566928" cy="1719072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23" name="Text 21"/>
          <p:cNvSpPr/>
          <p:nvPr/>
        </p:nvSpPr>
        <p:spPr>
          <a:xfrm>
            <a:off x="2112264" y="31181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3·1·5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40280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99616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57016" y="3355848"/>
            <a:ext cx="566928" cy="171907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27" name="Shape 25"/>
          <p:cNvSpPr/>
          <p:nvPr/>
        </p:nvSpPr>
        <p:spPr>
          <a:xfrm>
            <a:off x="4233672" y="3458992"/>
            <a:ext cx="566928" cy="1615928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28" name="Text 26"/>
          <p:cNvSpPr/>
          <p:nvPr/>
        </p:nvSpPr>
        <p:spPr>
          <a:xfrm>
            <a:off x="4105656" y="32212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3·2·5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33672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93008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50408" y="3355848"/>
            <a:ext cx="566928" cy="171907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32" name="Shape 30"/>
          <p:cNvSpPr/>
          <p:nvPr/>
        </p:nvSpPr>
        <p:spPr>
          <a:xfrm>
            <a:off x="6227064" y="3562137"/>
            <a:ext cx="566928" cy="1512783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33" name="Text 31"/>
          <p:cNvSpPr/>
          <p:nvPr/>
        </p:nvSpPr>
        <p:spPr>
          <a:xfrm>
            <a:off x="6099048" y="3324393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3·3·5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27064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43800" y="3355848"/>
            <a:ext cx="566928" cy="171907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0456" y="3648090"/>
            <a:ext cx="566928" cy="1426830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38" name="Text 36"/>
          <p:cNvSpPr/>
          <p:nvPr/>
        </p:nvSpPr>
        <p:spPr>
          <a:xfrm>
            <a:off x="8092440" y="341034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3·4·5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20456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79792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37192" y="3355848"/>
            <a:ext cx="566928" cy="1719072"/>
          </a:xfrm>
          <a:prstGeom prst="rect">
            <a:avLst/>
          </a:prstGeom>
          <a:solidFill>
            <a:srgbClr val="C3C9D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13848" y="3734044"/>
            <a:ext cx="566928" cy="1340876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43" name="Text 41"/>
          <p:cNvSpPr/>
          <p:nvPr/>
        </p:nvSpPr>
        <p:spPr>
          <a:xfrm>
            <a:off x="10085832" y="34963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3·5·5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213848" y="48188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473184" y="5148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234440" y="5074920"/>
            <a:ext cx="9966960" cy="0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45752" y="3218688"/>
            <a:ext cx="1463040" cy="2121408"/>
          </a:xfrm>
          <a:prstGeom prst="roundRect">
            <a:avLst>
              <a:gd name="adj" fmla="val 3125"/>
            </a:avLst>
          </a:prstGeom>
          <a:solidFill>
            <a:srgbClr val="FFFFFF">
              <a:alpha val="0"/>
            </a:srgbClr>
          </a:solidFill>
          <a:ln w="15875">
            <a:solidFill>
              <a:srgbClr val="C6392E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8595360" y="5394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4등급 하향 · 보험료 22% 인하 (예시)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206240" y="2724912"/>
            <a:ext cx="3566160" cy="420624"/>
          </a:xfrm>
          <a:prstGeom prst="roundRect">
            <a:avLst>
              <a:gd name="adj" fmla="val 21739"/>
            </a:avLst>
          </a:prstGeom>
          <a:solidFill>
            <a:srgbClr val="FFF9D6"/>
          </a:solidFill>
          <a:ln w="12700">
            <a:solidFill>
              <a:srgbClr val="E7C9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27249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하향 시 준비금 차액을 정산금으로 지급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 rot="10800000">
            <a:off x="4526280" y="3136392"/>
            <a:ext cx="201168" cy="137160"/>
          </a:xfrm>
          <a:prstGeom prst="triangle">
            <a:avLst/>
          </a:prstGeom>
          <a:solidFill>
            <a:srgbClr val="FFF9D6"/>
          </a:solidFill>
          <a:ln w="12700">
            <a:solidFill>
              <a:srgbClr val="E7C9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59253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기존: 인하 수단은 해지 후 재가입  →  보장 공백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09360" y="59253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New종신: 해지 없이 전환 · 정산금 지급 · 공백 없음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보험료 지수는 예시 가정(등급당 5~6%)이며 실제 요율은 산출 결과에 따름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 컨셉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중도부가 · 보장전환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➋ 담보 추가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보험기간 중 담보를 추가할 수 있음, 시점·재원은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선택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재원은 추가 보험료(중도부가) 또는 적립금(보장전환), 대상 담보는 동일함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가입자 여정 (30세 가입 예시)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633472"/>
            <a:ext cx="10881360" cy="3127248"/>
          </a:xfrm>
          <a:prstGeom prst="rect">
            <a:avLst/>
          </a:prstGeom>
          <a:solidFill>
            <a:srgbClr val="FBFCFE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730752"/>
            <a:ext cx="10241280" cy="475488"/>
          </a:xfrm>
          <a:prstGeom prst="rect">
            <a:avLst/>
          </a:prstGeom>
          <a:solidFill>
            <a:srgbClr val="E9EFFD"/>
          </a:solidFill>
          <a:ln w="9525">
            <a:solidFill>
              <a:srgbClr val="1743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730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종신사망 (주계약)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364992"/>
            <a:ext cx="5212080" cy="329184"/>
          </a:xfrm>
          <a:prstGeom prst="rect">
            <a:avLst/>
          </a:prstGeom>
          <a:solidFill>
            <a:srgbClr val="DFF6FA"/>
          </a:solidFill>
          <a:ln w="9525">
            <a:solidFill>
              <a:srgbClr val="2FA8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3649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6D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정기특약(사망보장 증액)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0" y="3017520"/>
            <a:ext cx="2468880" cy="310896"/>
          </a:xfrm>
          <a:prstGeom prst="rect">
            <a:avLst/>
          </a:prstGeom>
          <a:solidFill>
            <a:srgbClr val="ECEEFD"/>
          </a:solidFill>
          <a:ln w="9525">
            <a:solidFill>
              <a:srgbClr val="7C86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30175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4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월렛 특약(통합한도 건강)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798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구성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3364992"/>
            <a:ext cx="0" cy="1481328"/>
          </a:xfrm>
          <a:prstGeom prst="line">
            <a:avLst/>
          </a:prstGeom>
          <a:noFill/>
          <a:ln w="9525">
            <a:solidFill>
              <a:srgbClr val="C3C9D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778240" y="3017520"/>
            <a:ext cx="0" cy="1828800"/>
          </a:xfrm>
          <a:prstGeom prst="line">
            <a:avLst/>
          </a:prstGeom>
          <a:noFill/>
          <a:ln w="9525">
            <a:solidFill>
              <a:srgbClr val="C3C9D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005840" y="4846320"/>
            <a:ext cx="10241280" cy="0"/>
          </a:xfrm>
          <a:prstGeom prst="line">
            <a:avLst/>
          </a:prstGeom>
          <a:noFill/>
          <a:ln w="19050">
            <a:solidFill>
              <a:srgbClr val="0F1E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1328" y="4773168"/>
            <a:ext cx="146304" cy="146304"/>
          </a:xfrm>
          <a:prstGeom prst="ellipse">
            <a:avLst/>
          </a:prstGeom>
          <a:solidFill>
            <a:srgbClr val="5A64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974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5193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53949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종신사망만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950208" y="4773168"/>
            <a:ext cx="146304" cy="146304"/>
          </a:xfrm>
          <a:prstGeom prst="ellipse">
            <a:avLst/>
          </a:prstGeom>
          <a:solidFill>
            <a:srgbClr val="0E9C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4974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63240" y="5193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C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전환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88920" y="53949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3·1·5→3·2·5 · 정산금 (예시)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61888" y="4773168"/>
            <a:ext cx="146304" cy="146304"/>
          </a:xfrm>
          <a:prstGeom prst="ellipse">
            <a:avLst/>
          </a:prstGeom>
          <a:solidFill>
            <a:srgbClr val="1743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4974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5193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정기특약 중도부가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57800" y="5413248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743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54132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재원: 추가 보험료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705088" y="4773168"/>
            <a:ext cx="146304" cy="146304"/>
          </a:xfrm>
          <a:prstGeom prst="ellipse">
            <a:avLst/>
          </a:prstGeom>
          <a:solidFill>
            <a:srgbClr val="3A44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49743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18120" y="5193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월렛 보장전환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01000" y="5413248"/>
            <a:ext cx="155448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A44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01000" y="54132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44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재원: 적립금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 rot="5400000">
            <a:off x="11228832" y="4773168"/>
            <a:ext cx="146304" cy="146304"/>
          </a:xfrm>
          <a:prstGeom prst="triangle">
            <a:avLst/>
          </a:prstGeom>
          <a:solidFill>
            <a:srgbClr val="0F1E5A"/>
          </a:solidFill>
          <a:ln/>
        </p:spPr>
      </p:sp>
      <p:sp>
        <p:nvSpPr>
          <p:cNvPr id="43" name="Shape 41"/>
          <p:cNvSpPr/>
          <p:nvPr/>
        </p:nvSpPr>
        <p:spPr>
          <a:xfrm>
            <a:off x="658368" y="5870448"/>
            <a:ext cx="10881360" cy="329184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587044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다이나믹 프라이싱: 모든 변경 시점에 그 시점 건강으로 재산정, 악화 시에도 거절 없음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6291072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여정·연령은 예시, 중도부가·보장전환의 대상 담보는 동일하며 재원만 상이함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 컨셉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다이나믹 프라이싱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➌ 요율 재산정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변경 시점에 그 시점 건강으로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요율을 재산정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간편고지 3문항 · 무조건 인수, 무사고 전환·중도부가·보장전환 모두 이 재산정을 전제로 작동함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2395728"/>
            <a:ext cx="3703320" cy="365760"/>
          </a:xfrm>
          <a:prstGeom prst="rect">
            <a:avLst/>
          </a:prstGeom>
          <a:solidFill>
            <a:srgbClr val="5A647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395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간편고지 종신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2395728"/>
            <a:ext cx="3904488" cy="365760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239572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F1E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개선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무사고 4년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3108960"/>
            <a:ext cx="3703320" cy="1115568"/>
          </a:xfrm>
          <a:prstGeom prst="rect">
            <a:avLst/>
          </a:prstGeom>
          <a:solidFill>
            <a:srgbClr val="FDF1EF"/>
          </a:solidFill>
          <a:ln w="9525">
            <a:solidFill>
              <a:srgbClr val="C63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3108960"/>
            <a:ext cx="3337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보험료 변동 없음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요율로 만기까지 지수 100 유지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35240" y="3108960"/>
            <a:ext cx="3904488" cy="1115568"/>
          </a:xfrm>
          <a:prstGeom prst="rect">
            <a:avLst/>
          </a:prstGeom>
          <a:solidFill>
            <a:srgbClr val="E9EFFD"/>
          </a:solidFill>
          <a:ln w="9525">
            <a:solidFill>
              <a:srgbClr val="174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108960"/>
            <a:ext cx="35387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3·5·5 인하 + 정산금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지수 100 → 78 (예시)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45720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F1E5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악화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065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고혈압 진단 (예시)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0" y="4480560"/>
            <a:ext cx="3703320" cy="1115568"/>
          </a:xfrm>
          <a:prstGeom prst="rect">
            <a:avLst/>
          </a:prstGeom>
          <a:solidFill>
            <a:srgbClr val="FDF1EF"/>
          </a:solidFill>
          <a:ln w="9525">
            <a:solidFill>
              <a:srgbClr val="C639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4480560"/>
            <a:ext cx="3337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거절 또는 부담보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보장을 추가할 수 없음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635240" y="4480560"/>
            <a:ext cx="3904488" cy="1115568"/>
          </a:xfrm>
          <a:prstGeom prst="rect">
            <a:avLst/>
          </a:prstGeom>
          <a:solidFill>
            <a:srgbClr val="E9EFFD"/>
          </a:solidFill>
          <a:ln w="9525">
            <a:solidFill>
              <a:srgbClr val="1743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4480560"/>
            <a:ext cx="35387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3·4·5 인수 · 거절 없음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시점 등급으로 요율 반영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657600" y="5779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개선·악화 모두 미반영됨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35240" y="5779008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개선·악화 모두 그 시점 요율로 반영됨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지수는 등급당 5~6% 가정 예시, 재산정 발생 시점은 무사고 전환·중도부가·보장전환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 컨셉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기대 효과 및 검토 필요 사항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변화·니즈 발생 시점의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결과가 개선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대상: 사망담보(요율 고정 기간 최장, 담보 수 최소로 기능 검증 가능)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86000"/>
            <a:ext cx="4846320" cy="365760"/>
          </a:xfrm>
          <a:prstGeom prst="rect">
            <a:avLst/>
          </a:prstGeom>
          <a:solidFill>
            <a:srgbClr val="5A647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종신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93408" y="2286000"/>
            <a:ext cx="4846320" cy="365760"/>
          </a:xfrm>
          <a:prstGeom prst="rect">
            <a:avLst/>
          </a:prstGeom>
          <a:solidFill>
            <a:srgbClr val="1743E0"/>
          </a:solidFill>
          <a:ln/>
        </p:spPr>
      </p:sp>
      <p:sp>
        <p:nvSpPr>
          <p:cNvPr id="14" name="Text 12"/>
          <p:cNvSpPr/>
          <p:nvPr/>
        </p:nvSpPr>
        <p:spPr>
          <a:xfrm>
            <a:off x="6693408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New종신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889504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889504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건강 개선 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요율 변동 없음, 인하 수단은 해지·재가입뿐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261104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261104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보장 니즈 발생 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불가, 악화 시 신규 가입도 거절·부담보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2889504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0F1E5A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889504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건강 개선 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요율등급 하향(최대 22% 인하 예시) + 정산금 지급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4261104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0F1E5A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4261104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 보장 니즈 발생 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D2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중도부가·보장전환으로 추가, 거절 없음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15000" y="3977640"/>
            <a:ext cx="502920" cy="402336"/>
          </a:xfrm>
          <a:prstGeom prst="rightArrow">
            <a:avLst/>
          </a:prstGeom>
          <a:solidFill>
            <a:srgbClr val="1743E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5760720"/>
            <a:ext cx="1088136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76072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필요 사항 (병행 진행 중)</a:t>
            </a:r>
            <a:endParaRPr lang="en-US" sz="10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계리: 무사고·사망률 상관 검증, 정산금 구조      ② 규제: 중도부가 분류, 정산금 법적 성격      ③ 채널: 수수료 구조 정합성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상품개발팀</dc:creator>
  <cp:lastModifiedBy>상품개발팀</cp:lastModifiedBy>
  <cp:revision>1</cp:revision>
  <dcterms:created xsi:type="dcterms:W3CDTF">2026-08-08T12:35:08Z</dcterms:created>
  <dcterms:modified xsi:type="dcterms:W3CDTF">2026-08-08T12:35:08Z</dcterms:modified>
</cp:coreProperties>
</file>