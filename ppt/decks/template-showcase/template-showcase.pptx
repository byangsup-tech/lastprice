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실적표 폼 시연 — 증감 착색은 셀 tone(ok/problem)만으로, 수치 표기는 입력 그대로.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비교표 폼 시연 — hiCol로 당사 열 강조, 타사 수치는 공시 출처 확보 전 (예시).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4FC8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841248" y="29260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템플릿 쇼케이스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관계어 6종 + 간지, 전 장 가정(예시) 데이터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현황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핵심 지표가 목표 구간에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안착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신계약·유지율·민원 세 지표 모두 목표 범위 내에서 진행됨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651760"/>
            <a:ext cx="3413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304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신계약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32918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1,240건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1248" y="4133088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+18% (예시)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4645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1,100건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92168" y="2651760"/>
            <a:ext cx="3413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5048" y="2852928"/>
            <a:ext cx="304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13회차 유지율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5048" y="32918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575048" y="4133088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+3.2%p (예시)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5048" y="4645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상품 대비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25968" y="2651760"/>
            <a:ext cx="3413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08848" y="2852928"/>
            <a:ext cx="304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08848" y="32918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2건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308848" y="4133088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전분기 동일 (예시)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308848" y="4645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전건 처리 완료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수치는 전건 가정(예시), 파일럿 집계 확정 전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 방식 대안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비교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확대안이 세 평가 기준을 모두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충족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확대는 손해율 검증 전 리스크, 현행 유지는 시장 진입 시점을 놓치게 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514600"/>
            <a:ext cx="23774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35808" y="25146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35808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검증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70448" y="25146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0448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부담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705088" y="25146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수용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2971800"/>
            <a:ext cx="2377440" cy="89916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2971800"/>
            <a:ext cx="210312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확대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035808" y="297180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297180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검증 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870448" y="297180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297180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동시 개발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705088" y="297180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0" y="297180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높음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" y="3870960"/>
            <a:ext cx="23774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3870960"/>
            <a:ext cx="210312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확대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035808" y="3870960"/>
            <a:ext cx="28346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387096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분기 검증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870448" y="3870960"/>
            <a:ext cx="28346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387096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순차 개발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705088" y="3870960"/>
            <a:ext cx="28346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0" y="387096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높음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58368" y="4770120"/>
            <a:ext cx="2377440" cy="89916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5528" y="4770120"/>
            <a:ext cx="210312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유지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3035808" y="477012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08960" y="477012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여유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870448" y="477012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477012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없음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705088" y="477012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78240" y="477012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이탈 위험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58368" y="577900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충족 · △ 부분 충족 · ✕ 미충족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변동 요인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요인 분해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개선분의 대부분이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전환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에서 발생함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 인수는 소폭 상승 요인이나 전환 효과가 상쇄함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변동 요인 분해 (예시)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633472"/>
            <a:ext cx="10881360" cy="3200400"/>
          </a:xfrm>
          <a:prstGeom prst="rect">
            <a:avLst/>
          </a:prstGeom>
          <a:solidFill>
            <a:srgbClr val="FBFCFE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743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지수 (기준 = 100)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842516" y="3319272"/>
            <a:ext cx="777240" cy="1828800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16" name="Text 14"/>
          <p:cNvSpPr/>
          <p:nvPr/>
        </p:nvSpPr>
        <p:spPr>
          <a:xfrm>
            <a:off x="1568196" y="30815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3C9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31036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35908" y="3319272"/>
            <a:ext cx="777240" cy="73152"/>
          </a:xfrm>
          <a:prstGeom prst="rect">
            <a:avLst/>
          </a:prstGeom>
          <a:solidFill>
            <a:srgbClr val="5A6472"/>
          </a:solidFill>
          <a:ln/>
        </p:spPr>
      </p:sp>
      <p:sp>
        <p:nvSpPr>
          <p:cNvPr id="19" name="Text 17"/>
          <p:cNvSpPr/>
          <p:nvPr/>
        </p:nvSpPr>
        <p:spPr>
          <a:xfrm>
            <a:off x="3561588" y="30815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24428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전환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19756" y="3319272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829300" y="3355848"/>
            <a:ext cx="777240" cy="45720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23" name="Text 21"/>
          <p:cNvSpPr/>
          <p:nvPr/>
        </p:nvSpPr>
        <p:spPr>
          <a:xfrm>
            <a:off x="5554980" y="3118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17820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 인수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13148" y="3392424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7822692" y="3355848"/>
            <a:ext cx="777240" cy="45720"/>
          </a:xfrm>
          <a:prstGeom prst="rect">
            <a:avLst/>
          </a:prstGeom>
          <a:solidFill>
            <a:srgbClr val="5A6472"/>
          </a:solidFill>
          <a:ln/>
        </p:spPr>
      </p:sp>
      <p:sp>
        <p:nvSpPr>
          <p:cNvPr id="27" name="Text 25"/>
          <p:cNvSpPr/>
          <p:nvPr/>
        </p:nvSpPr>
        <p:spPr>
          <a:xfrm>
            <a:off x="7548372" y="3118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11212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606540" y="3355848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599932" y="3374136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9816084" y="3374136"/>
            <a:ext cx="777240" cy="1773936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32" name="Text 30"/>
          <p:cNvSpPr/>
          <p:nvPr/>
        </p:nvSpPr>
        <p:spPr>
          <a:xfrm>
            <a:off x="9541764" y="313639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404604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234440" y="5148072"/>
            <a:ext cx="9966960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요인 분해는 가정(예시), 계리 검증 전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선순환 구조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작동 메커니즘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개선과 보험료 인하가 서로를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재산정이 매 주기 작동해 개선 유인이 유지됨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rot="2700000">
            <a:off x="7373743" y="2943764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2" name="Shape 10"/>
          <p:cNvSpPr/>
          <p:nvPr/>
        </p:nvSpPr>
        <p:spPr>
          <a:xfrm rot="8100000">
            <a:off x="7373743" y="4883500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3" name="Shape 11"/>
          <p:cNvSpPr/>
          <p:nvPr/>
        </p:nvSpPr>
        <p:spPr>
          <a:xfrm rot="13500000">
            <a:off x="4367153" y="4883500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4" name="Shape 12"/>
          <p:cNvSpPr/>
          <p:nvPr/>
        </p:nvSpPr>
        <p:spPr>
          <a:xfrm rot="18900000">
            <a:off x="4367153" y="2943764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5038344" y="23591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38344" y="23591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개선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64324" y="37307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64324" y="37307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하향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38344" y="51023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8344" y="51023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인하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12364" y="37307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12364" y="37307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유지율 상승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58384" y="3310128"/>
            <a:ext cx="1463040" cy="1463040"/>
          </a:xfrm>
          <a:prstGeom prst="ellipse">
            <a:avLst/>
          </a:prstGeom>
          <a:solidFill>
            <a:srgbClr val="0F1E5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8384" y="3310128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DP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구성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구성에서 GA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비중이 확대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전속·TM 비중은 완만히 축소되는 구성임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채널별 판매 구성비 (예시)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633472"/>
            <a:ext cx="10881360" cy="3200400"/>
          </a:xfrm>
          <a:prstGeom prst="rect">
            <a:avLst/>
          </a:prstGeom>
          <a:solidFill>
            <a:srgbClr val="FBFCFE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17520" y="4240987"/>
            <a:ext cx="1097280" cy="998525"/>
          </a:xfrm>
          <a:prstGeom prst="rect">
            <a:avLst/>
          </a:prstGeom>
          <a:solidFill>
            <a:srgbClr val="1743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17520" y="4240987"/>
            <a:ext cx="1097280" cy="9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52%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463052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017520" y="3664915"/>
            <a:ext cx="1097280" cy="576072"/>
          </a:xfrm>
          <a:prstGeom prst="rect">
            <a:avLst/>
          </a:prstGeom>
          <a:solidFill>
            <a:srgbClr val="4FC8D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0" y="3664915"/>
            <a:ext cx="1097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30%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384322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17520" y="3319272"/>
            <a:ext cx="1097280" cy="345643"/>
          </a:xfrm>
          <a:prstGeom prst="rect">
            <a:avLst/>
          </a:prstGeom>
          <a:solidFill>
            <a:srgbClr val="7C86F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17520" y="3319272"/>
            <a:ext cx="1097280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 18%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8236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60320" y="5312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'25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223760" y="4068166"/>
            <a:ext cx="1097280" cy="1171346"/>
          </a:xfrm>
          <a:prstGeom prst="rect">
            <a:avLst/>
          </a:prstGeom>
          <a:solidFill>
            <a:srgbClr val="1743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0" y="4068166"/>
            <a:ext cx="1097280" cy="117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61%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23760" y="3588106"/>
            <a:ext cx="1097280" cy="480060"/>
          </a:xfrm>
          <a:prstGeom prst="rect">
            <a:avLst/>
          </a:prstGeom>
          <a:solidFill>
            <a:srgbClr val="4FC8D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3588106"/>
            <a:ext cx="10972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25%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23760" y="3319272"/>
            <a:ext cx="1097280" cy="268834"/>
          </a:xfrm>
          <a:prstGeom prst="rect">
            <a:avLst/>
          </a:prstGeom>
          <a:solidFill>
            <a:srgbClr val="7C86F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0" y="3319272"/>
            <a:ext cx="1097280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14%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766560" y="5312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234440" y="5239512"/>
            <a:ext cx="9144000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구성비는 가정(예시), '26은 계획 수치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분기에 걸쳐 검증과 개발을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병행 진행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 결정은 계리 검증 종료 시점에 수행함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70048" y="2514600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'26.3Q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7004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26608" y="2514600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'26.4Q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660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83168" y="2514600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'27.1Q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8316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3972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767328"/>
            <a:ext cx="10881360" cy="0"/>
          </a:xfrm>
          <a:prstGeom prst="line">
            <a:avLst/>
          </a:prstGeom>
          <a:noFill/>
          <a:ln w="6350">
            <a:solidFill>
              <a:srgbClr val="D8DD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89864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24912" y="3140964"/>
            <a:ext cx="5803392" cy="384048"/>
          </a:xfrm>
          <a:prstGeom prst="roundRect">
            <a:avLst>
              <a:gd name="adj" fmla="val 19048"/>
            </a:avLst>
          </a:prstGeom>
          <a:solidFill>
            <a:srgbClr val="DFF6FA"/>
          </a:solidFill>
          <a:ln w="12700">
            <a:solidFill>
              <a:srgbClr val="4FC8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98064" y="3140964"/>
            <a:ext cx="565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D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무사고·사망률 상관 검증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8368" y="4636008"/>
            <a:ext cx="10881360" cy="0"/>
          </a:xfrm>
          <a:prstGeom prst="line">
            <a:avLst/>
          </a:prstGeom>
          <a:noFill/>
          <a:ln w="6350">
            <a:solidFill>
              <a:srgbClr val="D8DD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76732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24912" y="4009644"/>
            <a:ext cx="2846832" cy="384048"/>
          </a:xfrm>
          <a:prstGeom prst="roundRect">
            <a:avLst>
              <a:gd name="adj" fmla="val 19048"/>
            </a:avLst>
          </a:prstGeom>
          <a:solidFill>
            <a:srgbClr val="ECEEFD"/>
          </a:solidFill>
          <a:ln w="12700">
            <a:solidFill>
              <a:srgbClr val="7C86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98064" y="4009644"/>
            <a:ext cx="2700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4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중도부가 분류 협의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" y="5504688"/>
            <a:ext cx="10881360" cy="0"/>
          </a:xfrm>
          <a:prstGeom prst="line">
            <a:avLst/>
          </a:prstGeom>
          <a:noFill/>
          <a:ln w="6350">
            <a:solidFill>
              <a:srgbClr val="D8DD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463600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81472" y="4878324"/>
            <a:ext cx="5803392" cy="384048"/>
          </a:xfrm>
          <a:prstGeom prst="roundRect">
            <a:avLst>
              <a:gd name="adj" fmla="val 19048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54624" y="4878324"/>
            <a:ext cx="565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 모듈 개발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00872" y="2807208"/>
            <a:ext cx="164592" cy="164592"/>
          </a:xfrm>
          <a:prstGeom prst="diamond">
            <a:avLst/>
          </a:prstGeom>
          <a:solidFill>
            <a:srgbClr val="0F1E5A"/>
          </a:solidFill>
          <a:ln/>
        </p:spPr>
      </p:sp>
      <p:sp>
        <p:nvSpPr>
          <p:cNvPr id="31" name="Text 29"/>
          <p:cNvSpPr/>
          <p:nvPr/>
        </p:nvSpPr>
        <p:spPr>
          <a:xfrm>
            <a:off x="7668768" y="55595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 결정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일정은 가정(예시), 확정 전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실적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실적표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지표 4개 중 3개가 계획을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 달성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 1개(손해율)는 요인 분석 후 다음 달 대응 방향을 보고함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핵심 지표, 계획 대비 (예시)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8368" y="2468880"/>
            <a:ext cx="10881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단위: 건·억원 (예시)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58368" y="2743200"/>
            <a:ext cx="23774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743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035808" y="27432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35808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870448" y="27432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70448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실적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705088" y="27432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05088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달성률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3200400"/>
            <a:ext cx="2377440" cy="61722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3255264"/>
            <a:ext cx="210312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신계약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" y="3521354"/>
            <a:ext cx="2103120" cy="25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월납 환산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035808" y="320040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320040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1,100건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870448" y="320040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0" y="320040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1,240건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705088" y="320040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78240" y="320040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8A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113%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58368" y="3817620"/>
            <a:ext cx="2377440" cy="61722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5528" y="3817620"/>
            <a:ext cx="210312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수익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35808" y="381762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08960" y="381762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84억원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870448" y="381762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43600" y="381762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91억원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705088" y="381762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0" y="381762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8A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108%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658368" y="4434840"/>
            <a:ext cx="2377440" cy="61722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95528" y="4434840"/>
            <a:ext cx="210312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13회차 유지율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35808" y="443484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108960" y="443484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870448" y="443484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943600" y="443484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87%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8705088" y="443484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78240" y="443484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8A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102%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658368" y="5052060"/>
            <a:ext cx="2377440" cy="61722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95528" y="5052060"/>
            <a:ext cx="2103120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35808" y="505206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08960" y="505206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82%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5870448" y="505206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0" y="505206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1150" dirty="0"/>
          </a:p>
        </p:txBody>
      </p:sp>
      <p:sp>
        <p:nvSpPr>
          <p:cNvPr id="53" name="Shape 51"/>
          <p:cNvSpPr/>
          <p:nvPr/>
        </p:nvSpPr>
        <p:spPr>
          <a:xfrm>
            <a:off x="8705088" y="5052060"/>
            <a:ext cx="2834640" cy="61722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778240" y="5052060"/>
            <a:ext cx="2688336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</a:t>
            </a:r>
            <a:endParaRPr lang="en-US" sz="1150" dirty="0"/>
          </a:p>
        </p:txBody>
      </p:sp>
      <p:sp>
        <p:nvSpPr>
          <p:cNvPr id="55" name="Text 53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수치는 전건 가정(예시), 실제 월간 집계로 대체 필요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계열사 비교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비교표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성장률과 유지율에서 당사가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상위권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을 유지함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손해율은 업계 평균 수준으로, 성장 중심 지표에서 우위가 확인됨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지표 사별 비교 (예시)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743200"/>
            <a:ext cx="23774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27432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035808" y="2743200"/>
            <a:ext cx="2125980" cy="457200"/>
          </a:xfrm>
          <a:prstGeom prst="rect">
            <a:avLst/>
          </a:prstGeom>
          <a:solidFill>
            <a:srgbClr val="1743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35808" y="2743200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당사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161788" y="2743200"/>
            <a:ext cx="212598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61788" y="2743200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A사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287768" y="2743200"/>
            <a:ext cx="212598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287768" y="2743200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B사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413748" y="2743200"/>
            <a:ext cx="212598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413748" y="2743200"/>
            <a:ext cx="21259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C사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58368" y="3200400"/>
            <a:ext cx="2377440" cy="82296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5528" y="320040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신계약 성장률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35808" y="3200400"/>
            <a:ext cx="2125980" cy="8229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108960" y="320040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8A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+18%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161788" y="3200400"/>
            <a:ext cx="21259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4940" y="320040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+9%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287768" y="3200400"/>
            <a:ext cx="21259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60920" y="320040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+12%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9413748" y="3200400"/>
            <a:ext cx="21259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486900" y="320040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+4%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58368" y="4023360"/>
            <a:ext cx="2377440" cy="82296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5528" y="402336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13회차 유지율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035808" y="4023360"/>
            <a:ext cx="2125980" cy="8229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108960" y="402336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8A6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87%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5161788" y="4023360"/>
            <a:ext cx="21259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4940" y="402336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84%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7287768" y="4023360"/>
            <a:ext cx="21259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60920" y="402336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81%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9413748" y="4023360"/>
            <a:ext cx="21259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86900" y="402336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658368" y="4846320"/>
            <a:ext cx="2377440" cy="82296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5528" y="4846320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35808" y="4846320"/>
            <a:ext cx="2125980" cy="8229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108960" y="484632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85%</a:t>
            </a:r>
            <a:endParaRPr lang="en-US" sz="1150" dirty="0"/>
          </a:p>
        </p:txBody>
      </p:sp>
      <p:sp>
        <p:nvSpPr>
          <p:cNvPr id="47" name="Shape 45"/>
          <p:cNvSpPr/>
          <p:nvPr/>
        </p:nvSpPr>
        <p:spPr>
          <a:xfrm>
            <a:off x="5161788" y="4846320"/>
            <a:ext cx="21259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234940" y="484632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83%</a:t>
            </a:r>
            <a:endParaRPr lang="en-US" sz="1150" dirty="0"/>
          </a:p>
        </p:txBody>
      </p:sp>
      <p:sp>
        <p:nvSpPr>
          <p:cNvPr id="49" name="Shape 47"/>
          <p:cNvSpPr/>
          <p:nvPr/>
        </p:nvSpPr>
        <p:spPr>
          <a:xfrm>
            <a:off x="7287768" y="4846320"/>
            <a:ext cx="21259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60920" y="484632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88%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9413748" y="4846320"/>
            <a:ext cx="2125980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486900" y="4846320"/>
            <a:ext cx="19796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86%</a:t>
            </a:r>
            <a:endParaRPr lang="en-US" sz="1150" dirty="0"/>
          </a:p>
        </p:txBody>
      </p:sp>
      <p:sp>
        <p:nvSpPr>
          <p:cNvPr id="53" name="Text 51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수치는 전건 가정(예시), 공시 자료 기준으로 대체 필요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템플릿 쇼케이스</dc:title>
  <dc:subject>PptxGenJS Presentation</dc:subject>
  <dc:creator>상품개발팀</dc:creator>
  <cp:lastModifiedBy>상품개발팀</cp:lastModifiedBy>
  <cp:revision>1</cp:revision>
  <dcterms:created xsi:type="dcterms:W3CDTF">2026-08-14T02:55:08Z</dcterms:created>
  <dcterms:modified xsi:type="dcterms:W3CDTF">2026-08-14T02:55:08Z</dcterms:modified>
</cp:coreProperties>
</file>