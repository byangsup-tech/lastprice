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73736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4FC8D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</a:t>
            </a:r>
            <a:endParaRPr lang="en-US" sz="6400" dirty="0"/>
          </a:p>
        </p:txBody>
      </p:sp>
      <p:sp>
        <p:nvSpPr>
          <p:cNvPr id="3" name="Text 1"/>
          <p:cNvSpPr/>
          <p:nvPr/>
        </p:nvSpPr>
        <p:spPr>
          <a:xfrm>
            <a:off x="841248" y="2926080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신규 템플릿 쇼케이스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868680" y="37947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관계어 6종 + 간지, 전 장 가정(예시) 데이터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68680" y="63093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현황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지표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 핵심 지표가 목표 구간에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안착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신계약·유지율·민원 세 지표 모두 목표 범위 내에서 진행됨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651760"/>
            <a:ext cx="3413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2852928"/>
            <a:ext cx="304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신계약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841248" y="329184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1,240건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841248" y="4133088"/>
            <a:ext cx="304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+18% (예시)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4645152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목표 1,100건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392168" y="2651760"/>
            <a:ext cx="3413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5048" y="2852928"/>
            <a:ext cx="304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13회차 유지율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4575048" y="329184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87%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4575048" y="4133088"/>
            <a:ext cx="304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+3.2%p (예시)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575048" y="4645152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기존 상품 대비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8125968" y="2651760"/>
            <a:ext cx="3413760" cy="237744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308848" y="2852928"/>
            <a:ext cx="304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민원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8308848" y="3291840"/>
            <a:ext cx="304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2건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8308848" y="4133088"/>
            <a:ext cx="3048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전분기 동일 (예시)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8308848" y="4645152"/>
            <a:ext cx="3048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전건 처리 완료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수치는 전건 가정(예시), 파일럿 집계 확정 전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확대 방식 대안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 비교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확대안이 세 평가 기준을 모두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충족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일괄 확대는 손해율 검증 전 리스크, 현행 유지는 시장 진입 시점을 놓치게 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514600"/>
            <a:ext cx="23774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8368" y="2514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대안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035808" y="2514600"/>
            <a:ext cx="28346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035808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 검증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870448" y="2514600"/>
            <a:ext cx="28346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870448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 부담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705088" y="2514600"/>
            <a:ext cx="2834640" cy="457200"/>
          </a:xfrm>
          <a:prstGeom prst="rect">
            <a:avLst/>
          </a:prstGeom>
          <a:solidFill>
            <a:srgbClr val="0F1E5A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705088" y="251460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수용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" y="2971800"/>
            <a:ext cx="2377440" cy="899160"/>
          </a:xfrm>
          <a:prstGeom prst="rect">
            <a:avLst/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2971800"/>
            <a:ext cx="210312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일괄 확대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3035808" y="297180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108960" y="297180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검증 전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870448" y="297180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943600" y="297180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△ 동시 개발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705088" y="297180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8778240" y="297180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높음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58368" y="3870960"/>
            <a:ext cx="2377440" cy="899160"/>
          </a:xfrm>
          <a:prstGeom prst="rect">
            <a:avLst/>
          </a:prstGeom>
          <a:solidFill>
            <a:srgbClr val="E9EFFD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95528" y="3870960"/>
            <a:ext cx="210312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단계 확대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3035808" y="3870960"/>
            <a:ext cx="2834640" cy="899160"/>
          </a:xfrm>
          <a:prstGeom prst="rect">
            <a:avLst/>
          </a:prstGeom>
          <a:solidFill>
            <a:srgbClr val="E9EFFD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3108960" y="387096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분기 검증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870448" y="3870960"/>
            <a:ext cx="2834640" cy="899160"/>
          </a:xfrm>
          <a:prstGeom prst="rect">
            <a:avLst/>
          </a:prstGeom>
          <a:solidFill>
            <a:srgbClr val="E9EFFD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387096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순차 개발</a:t>
            </a:r>
            <a:endParaRPr lang="en-US" sz="1150" dirty="0"/>
          </a:p>
        </p:txBody>
      </p:sp>
      <p:sp>
        <p:nvSpPr>
          <p:cNvPr id="33" name="Shape 31"/>
          <p:cNvSpPr/>
          <p:nvPr/>
        </p:nvSpPr>
        <p:spPr>
          <a:xfrm>
            <a:off x="8705088" y="3870960"/>
            <a:ext cx="2834640" cy="899160"/>
          </a:xfrm>
          <a:prstGeom prst="rect">
            <a:avLst/>
          </a:prstGeom>
          <a:solidFill>
            <a:srgbClr val="E9EFFD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778240" y="387096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높음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658368" y="4770120"/>
            <a:ext cx="2377440" cy="899160"/>
          </a:xfrm>
          <a:prstGeom prst="rect">
            <a:avLst/>
          </a:prstGeom>
          <a:solidFill>
            <a:srgbClr val="ECEFF3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95528" y="4770120"/>
            <a:ext cx="210312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현행 유지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3035808" y="477012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108960" y="477012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여유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5870448" y="477012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943600" y="477012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없음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8705088" y="4770120"/>
            <a:ext cx="2834640" cy="899160"/>
          </a:xfrm>
          <a:prstGeom prst="rect">
            <a:avLst/>
          </a:prstGeom>
          <a:solidFill>
            <a:srgbClr val="FFFFFF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778240" y="4770120"/>
            <a:ext cx="2688336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C6392E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✕ 이탈 위험</a:t>
            </a:r>
            <a:endParaRPr lang="en-US" sz="1150" dirty="0"/>
          </a:p>
        </p:txBody>
      </p:sp>
      <p:sp>
        <p:nvSpPr>
          <p:cNvPr id="43" name="Text 41"/>
          <p:cNvSpPr/>
          <p:nvPr/>
        </p:nvSpPr>
        <p:spPr>
          <a:xfrm>
            <a:off x="658368" y="5779008"/>
            <a:ext cx="10881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충족 · △ 부분 충족 · ✕ 미충족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 변동 요인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요인 분해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 개선분의 대부분이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전환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에서 발생함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재산정 인수는 소폭 상승 요인이나 전환 효과가 상쇄함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 변동 요인 분해 (예시)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2633472"/>
            <a:ext cx="10881360" cy="3200400"/>
          </a:xfrm>
          <a:prstGeom prst="rect">
            <a:avLst/>
          </a:prstGeom>
          <a:solidFill>
            <a:srgbClr val="FBFCFE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68680" y="2743200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B72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손해율 지수 (기준 = 100)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1842516" y="3319272"/>
            <a:ext cx="777240" cy="1828800"/>
          </a:xfrm>
          <a:prstGeom prst="rect">
            <a:avLst/>
          </a:prstGeom>
          <a:solidFill>
            <a:srgbClr val="C3C9D4"/>
          </a:solidFill>
          <a:ln/>
        </p:spPr>
      </p:sp>
      <p:sp>
        <p:nvSpPr>
          <p:cNvPr id="16" name="Text 14"/>
          <p:cNvSpPr/>
          <p:nvPr/>
        </p:nvSpPr>
        <p:spPr>
          <a:xfrm>
            <a:off x="1568196" y="308152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C3C9D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1431036" y="522122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기준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835908" y="3319272"/>
            <a:ext cx="777240" cy="73152"/>
          </a:xfrm>
          <a:prstGeom prst="rect">
            <a:avLst/>
          </a:prstGeom>
          <a:solidFill>
            <a:srgbClr val="5A6472"/>
          </a:solidFill>
          <a:ln/>
        </p:spPr>
      </p:sp>
      <p:sp>
        <p:nvSpPr>
          <p:cNvPr id="19" name="Text 17"/>
          <p:cNvSpPr/>
          <p:nvPr/>
        </p:nvSpPr>
        <p:spPr>
          <a:xfrm>
            <a:off x="3561588" y="3081528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3424428" y="522122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 전환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2619756" y="3319272"/>
            <a:ext cx="1216152" cy="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829300" y="3355848"/>
            <a:ext cx="777240" cy="45720"/>
          </a:xfrm>
          <a:prstGeom prst="rect">
            <a:avLst/>
          </a:prstGeom>
          <a:solidFill>
            <a:srgbClr val="1743E0"/>
          </a:solidFill>
          <a:ln/>
        </p:spPr>
      </p:sp>
      <p:sp>
        <p:nvSpPr>
          <p:cNvPr id="23" name="Text 21"/>
          <p:cNvSpPr/>
          <p:nvPr/>
        </p:nvSpPr>
        <p:spPr>
          <a:xfrm>
            <a:off x="5554980" y="311810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417820" y="522122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재산정 인수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13148" y="3392424"/>
            <a:ext cx="1216152" cy="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7822692" y="3355848"/>
            <a:ext cx="777240" cy="45720"/>
          </a:xfrm>
          <a:prstGeom prst="rect">
            <a:avLst/>
          </a:prstGeom>
          <a:solidFill>
            <a:srgbClr val="5A6472"/>
          </a:solidFill>
          <a:ln/>
        </p:spPr>
      </p:sp>
      <p:sp>
        <p:nvSpPr>
          <p:cNvPr id="27" name="Text 25"/>
          <p:cNvSpPr/>
          <p:nvPr/>
        </p:nvSpPr>
        <p:spPr>
          <a:xfrm>
            <a:off x="7548372" y="3118104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-1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411212" y="522122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사업비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606540" y="3355848"/>
            <a:ext cx="1216152" cy="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8599932" y="3374136"/>
            <a:ext cx="1216152" cy="0"/>
          </a:xfrm>
          <a:prstGeom prst="line">
            <a:avLst/>
          </a:prstGeom>
          <a:noFill/>
          <a:ln w="9525">
            <a:solidFill>
              <a:srgbClr val="C3C9D4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9816084" y="3374136"/>
            <a:ext cx="777240" cy="1773936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32" name="Text 30"/>
          <p:cNvSpPr/>
          <p:nvPr/>
        </p:nvSpPr>
        <p:spPr>
          <a:xfrm>
            <a:off x="9541764" y="3136392"/>
            <a:ext cx="1325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97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9404604" y="5221224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파일럿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1234440" y="5148072"/>
            <a:ext cx="9966960" cy="0"/>
          </a:xfrm>
          <a:prstGeom prst="line">
            <a:avLst/>
          </a:prstGeom>
          <a:noFill/>
          <a:ln w="12700">
            <a:solidFill>
              <a:srgbClr val="5A6472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요인 분해는 가정(예시), 계리 검증 전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선순환 구조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작동 메커니즘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 개선과 보험료 인하가 서로를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재산정이 매 주기 작동해 개선 유인이 유지됨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 rot="2700000">
            <a:off x="7373743" y="2943764"/>
            <a:ext cx="438912" cy="256032"/>
          </a:xfrm>
          <a:prstGeom prst="rightArrow">
            <a:avLst/>
          </a:prstGeom>
          <a:solidFill>
            <a:srgbClr val="C3C9D4"/>
          </a:solidFill>
          <a:ln/>
        </p:spPr>
      </p:sp>
      <p:sp>
        <p:nvSpPr>
          <p:cNvPr id="12" name="Shape 10"/>
          <p:cNvSpPr/>
          <p:nvPr/>
        </p:nvSpPr>
        <p:spPr>
          <a:xfrm rot="8100000">
            <a:off x="7373743" y="4883500"/>
            <a:ext cx="438912" cy="256032"/>
          </a:xfrm>
          <a:prstGeom prst="rightArrow">
            <a:avLst/>
          </a:prstGeom>
          <a:solidFill>
            <a:srgbClr val="C3C9D4"/>
          </a:solidFill>
          <a:ln/>
        </p:spPr>
      </p:sp>
      <p:sp>
        <p:nvSpPr>
          <p:cNvPr id="13" name="Shape 11"/>
          <p:cNvSpPr/>
          <p:nvPr/>
        </p:nvSpPr>
        <p:spPr>
          <a:xfrm rot="13500000">
            <a:off x="4367153" y="4883500"/>
            <a:ext cx="438912" cy="256032"/>
          </a:xfrm>
          <a:prstGeom prst="rightArrow">
            <a:avLst/>
          </a:prstGeom>
          <a:solidFill>
            <a:srgbClr val="C3C9D4"/>
          </a:solidFill>
          <a:ln/>
        </p:spPr>
      </p:sp>
      <p:sp>
        <p:nvSpPr>
          <p:cNvPr id="14" name="Shape 12"/>
          <p:cNvSpPr/>
          <p:nvPr/>
        </p:nvSpPr>
        <p:spPr>
          <a:xfrm rot="18900000">
            <a:off x="4367153" y="2943764"/>
            <a:ext cx="438912" cy="256032"/>
          </a:xfrm>
          <a:prstGeom prst="rightArrow">
            <a:avLst/>
          </a:prstGeom>
          <a:solidFill>
            <a:srgbClr val="C3C9D4"/>
          </a:solidFill>
          <a:ln/>
        </p:spPr>
      </p:sp>
      <p:sp>
        <p:nvSpPr>
          <p:cNvPr id="15" name="Shape 13"/>
          <p:cNvSpPr/>
          <p:nvPr/>
        </p:nvSpPr>
        <p:spPr>
          <a:xfrm>
            <a:off x="5038344" y="2359152"/>
            <a:ext cx="2103120" cy="621792"/>
          </a:xfrm>
          <a:prstGeom prst="roundRect">
            <a:avLst>
              <a:gd name="adj" fmla="val 14706"/>
            </a:avLst>
          </a:prstGeom>
          <a:solidFill>
            <a:srgbClr val="E9EFFD"/>
          </a:solidFill>
          <a:ln w="12700">
            <a:solidFill>
              <a:srgbClr val="1743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38344" y="235915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건강 개선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164324" y="3730752"/>
            <a:ext cx="2103120" cy="621792"/>
          </a:xfrm>
          <a:prstGeom prst="roundRect">
            <a:avLst>
              <a:gd name="adj" fmla="val 14706"/>
            </a:avLst>
          </a:prstGeom>
          <a:solidFill>
            <a:srgbClr val="E9EFFD"/>
          </a:solidFill>
          <a:ln w="12700">
            <a:solidFill>
              <a:srgbClr val="1743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64324" y="373075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등급 하향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038344" y="5102352"/>
            <a:ext cx="2103120" cy="621792"/>
          </a:xfrm>
          <a:prstGeom prst="roundRect">
            <a:avLst>
              <a:gd name="adj" fmla="val 14706"/>
            </a:avLst>
          </a:prstGeom>
          <a:solidFill>
            <a:srgbClr val="E9EFFD"/>
          </a:solidFill>
          <a:ln w="12700">
            <a:solidFill>
              <a:srgbClr val="1743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38344" y="510235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보험료 인하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912364" y="3730752"/>
            <a:ext cx="2103120" cy="621792"/>
          </a:xfrm>
          <a:prstGeom prst="roundRect">
            <a:avLst>
              <a:gd name="adj" fmla="val 14706"/>
            </a:avLst>
          </a:prstGeom>
          <a:solidFill>
            <a:srgbClr val="E9EFFD"/>
          </a:solidFill>
          <a:ln w="12700">
            <a:solidFill>
              <a:srgbClr val="1743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912364" y="3730752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유지율 상승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358384" y="3310128"/>
            <a:ext cx="1463040" cy="1463040"/>
          </a:xfrm>
          <a:prstGeom prst="ellipse">
            <a:avLst/>
          </a:prstGeom>
          <a:solidFill>
            <a:srgbClr val="0F1E5A"/>
          </a:solidFill>
          <a:ln/>
        </p:spPr>
      </p:sp>
      <p:sp>
        <p:nvSpPr>
          <p:cNvPr id="24" name="Text 22"/>
          <p:cNvSpPr/>
          <p:nvPr/>
        </p:nvSpPr>
        <p:spPr>
          <a:xfrm>
            <a:off x="5358384" y="3310128"/>
            <a:ext cx="1463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DP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 구성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구성비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판매 구성에서 GA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비중이 확대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전속·TM 비중은 완만히 축소되는 구성임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12" name="Text 10"/>
          <p:cNvSpPr/>
          <p:nvPr/>
        </p:nvSpPr>
        <p:spPr>
          <a:xfrm>
            <a:off x="658368" y="2267712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채널별 판매 구성비 (예시)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58368" y="2633472"/>
            <a:ext cx="10881360" cy="3200400"/>
          </a:xfrm>
          <a:prstGeom prst="rect">
            <a:avLst/>
          </a:prstGeom>
          <a:solidFill>
            <a:srgbClr val="FBFCFE"/>
          </a:solidFill>
          <a:ln w="9525">
            <a:solidFill>
              <a:srgbClr val="D8DD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017520" y="4240987"/>
            <a:ext cx="1097280" cy="998525"/>
          </a:xfrm>
          <a:prstGeom prst="rect">
            <a:avLst/>
          </a:prstGeom>
          <a:solidFill>
            <a:srgbClr val="1743E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017520" y="4240987"/>
            <a:ext cx="1097280" cy="9985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 52%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502920" y="463052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017520" y="3664915"/>
            <a:ext cx="1097280" cy="576072"/>
          </a:xfrm>
          <a:prstGeom prst="rect">
            <a:avLst/>
          </a:prstGeom>
          <a:solidFill>
            <a:srgbClr val="4FC8D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017520" y="3664915"/>
            <a:ext cx="1097280" cy="5760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30%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502920" y="3843223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3017520" y="3319272"/>
            <a:ext cx="1097280" cy="345643"/>
          </a:xfrm>
          <a:prstGeom prst="rect">
            <a:avLst/>
          </a:prstGeom>
          <a:solidFill>
            <a:srgbClr val="7C86F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17520" y="3319272"/>
            <a:ext cx="1097280" cy="34564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 18%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" y="338236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TM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2560320" y="5312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'25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223760" y="4068166"/>
            <a:ext cx="1097280" cy="1171346"/>
          </a:xfrm>
          <a:prstGeom prst="rect">
            <a:avLst/>
          </a:prstGeom>
          <a:solidFill>
            <a:srgbClr val="1743E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223760" y="4068166"/>
            <a:ext cx="1097280" cy="11713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GA 61%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223760" y="3588106"/>
            <a:ext cx="1097280" cy="480060"/>
          </a:xfrm>
          <a:prstGeom prst="rect">
            <a:avLst/>
          </a:prstGeom>
          <a:solidFill>
            <a:srgbClr val="4FC8D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223760" y="3588106"/>
            <a:ext cx="1097280" cy="4800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전속 25%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7223760" y="3319272"/>
            <a:ext cx="1097280" cy="268834"/>
          </a:xfrm>
          <a:prstGeom prst="rect">
            <a:avLst/>
          </a:prstGeom>
          <a:solidFill>
            <a:srgbClr val="7C86F5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23760" y="3319272"/>
            <a:ext cx="1097280" cy="2688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14%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6766560" y="5312664"/>
            <a:ext cx="2011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1234440" y="5239512"/>
            <a:ext cx="9144000" cy="0"/>
          </a:xfrm>
          <a:prstGeom prst="line">
            <a:avLst/>
          </a:prstGeom>
          <a:noFill/>
          <a:ln w="12700">
            <a:solidFill>
              <a:srgbClr val="5A647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구성비는 가정(예시), '26은 계획 수치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2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914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템플릿 쇼케이스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365760" y="329184"/>
            <a:ext cx="8778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단계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9418320" y="402336"/>
            <a:ext cx="2432304" cy="402336"/>
          </a:xfrm>
          <a:prstGeom prst="roundRect">
            <a:avLst>
              <a:gd name="adj" fmla="val 50000"/>
            </a:avLst>
          </a:prstGeom>
          <a:solidFill>
            <a:srgbClr val="4FC8DF"/>
          </a:solidFill>
          <a:ln/>
        </p:spPr>
      </p:sp>
      <p:sp>
        <p:nvSpPr>
          <p:cNvPr id="5" name="Text 3"/>
          <p:cNvSpPr/>
          <p:nvPr/>
        </p:nvSpPr>
        <p:spPr>
          <a:xfrm>
            <a:off x="9418320" y="402336"/>
            <a:ext cx="243230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일정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9184" y="1005840"/>
            <a:ext cx="11530584" cy="5541264"/>
          </a:xfrm>
          <a:prstGeom prst="roundRect">
            <a:avLst>
              <a:gd name="adj" fmla="val 990"/>
            </a:avLst>
          </a:prstGeom>
          <a:solidFill>
            <a:srgbClr val="FFFFFF"/>
          </a:solidFill>
          <a:ln w="12700">
            <a:solidFill>
              <a:srgbClr val="D8DDE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75720" y="6583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58368" y="1243584"/>
            <a:ext cx="64008" cy="457200"/>
          </a:xfrm>
          <a:prstGeom prst="rect">
            <a:avLst/>
          </a:prstGeom>
          <a:solidFill>
            <a:srgbClr val="0F1E5A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118872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3개 분기에 걸쳐 검증과 개발을 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highlight>
                  <a:srgbClr val="FFF04D"/>
                </a:highlight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병행 진행</a:t>
            </a:r>
            <a:pPr algn="l" indent="0" marL="0">
              <a:buNone/>
            </a:pPr>
            <a:r>
              <a:rPr lang="en-US" sz="19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77824" y="1792224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확대 결정은 계리 검증 종료 시점에 수행함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670048" y="2514600"/>
            <a:ext cx="295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'26.3Q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670048" y="2898648"/>
            <a:ext cx="0" cy="2606040"/>
          </a:xfrm>
          <a:prstGeom prst="line">
            <a:avLst/>
          </a:prstGeom>
          <a:noFill/>
          <a:ln w="9525">
            <a:solidFill>
              <a:srgbClr val="D8DDE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626608" y="2514600"/>
            <a:ext cx="295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'26.4Q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626608" y="2898648"/>
            <a:ext cx="0" cy="2606040"/>
          </a:xfrm>
          <a:prstGeom prst="line">
            <a:avLst/>
          </a:prstGeom>
          <a:noFill/>
          <a:ln w="9525">
            <a:solidFill>
              <a:srgbClr val="D8DDE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583168" y="2514600"/>
            <a:ext cx="2956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A6472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'27.1Q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583168" y="2898648"/>
            <a:ext cx="0" cy="2606040"/>
          </a:xfrm>
          <a:prstGeom prst="line">
            <a:avLst/>
          </a:prstGeom>
          <a:noFill/>
          <a:ln w="9525">
            <a:solidFill>
              <a:srgbClr val="D8DDE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1539728" y="2898648"/>
            <a:ext cx="0" cy="2606040"/>
          </a:xfrm>
          <a:prstGeom prst="line">
            <a:avLst/>
          </a:prstGeom>
          <a:noFill/>
          <a:ln w="9525">
            <a:solidFill>
              <a:srgbClr val="D8DDE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58368" y="3767328"/>
            <a:ext cx="10881360" cy="0"/>
          </a:xfrm>
          <a:prstGeom prst="line">
            <a:avLst/>
          </a:prstGeom>
          <a:noFill/>
          <a:ln w="6350">
            <a:solidFill>
              <a:srgbClr val="D8DDE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289864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계리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2724912" y="3140964"/>
            <a:ext cx="5803392" cy="384048"/>
          </a:xfrm>
          <a:prstGeom prst="roundRect">
            <a:avLst>
              <a:gd name="adj" fmla="val 19048"/>
            </a:avLst>
          </a:prstGeom>
          <a:solidFill>
            <a:srgbClr val="DFF6FA"/>
          </a:solidFill>
          <a:ln w="12700">
            <a:solidFill>
              <a:srgbClr val="4FC8D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798064" y="3140964"/>
            <a:ext cx="565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E6D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무사고·사망률 상관 검증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58368" y="4636008"/>
            <a:ext cx="10881360" cy="0"/>
          </a:xfrm>
          <a:prstGeom prst="line">
            <a:avLst/>
          </a:prstGeom>
          <a:noFill/>
          <a:ln w="6350">
            <a:solidFill>
              <a:srgbClr val="D8DDE6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" y="376732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규제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2724912" y="4009644"/>
            <a:ext cx="2846832" cy="384048"/>
          </a:xfrm>
          <a:prstGeom prst="roundRect">
            <a:avLst>
              <a:gd name="adj" fmla="val 19048"/>
            </a:avLst>
          </a:prstGeom>
          <a:solidFill>
            <a:srgbClr val="ECEEFD"/>
          </a:solidFill>
          <a:ln w="12700">
            <a:solidFill>
              <a:srgbClr val="7C86F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798064" y="4009644"/>
            <a:ext cx="270052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3A44B5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중도부가 분류 협의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8368" y="5504688"/>
            <a:ext cx="10881360" cy="0"/>
          </a:xfrm>
          <a:prstGeom prst="line">
            <a:avLst/>
          </a:prstGeom>
          <a:noFill/>
          <a:ln w="6350">
            <a:solidFill>
              <a:srgbClr val="D8DDE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" y="4636008"/>
            <a:ext cx="18745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1F2A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시스템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681472" y="4878324"/>
            <a:ext cx="5803392" cy="384048"/>
          </a:xfrm>
          <a:prstGeom prst="roundRect">
            <a:avLst>
              <a:gd name="adj" fmla="val 19048"/>
            </a:avLst>
          </a:prstGeom>
          <a:solidFill>
            <a:srgbClr val="E9EFFD"/>
          </a:solidFill>
          <a:ln w="12700">
            <a:solidFill>
              <a:srgbClr val="1743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54624" y="4878324"/>
            <a:ext cx="565708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43E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재산정 모듈 개발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8500872" y="2807208"/>
            <a:ext cx="164592" cy="164592"/>
          </a:xfrm>
          <a:prstGeom prst="diamond">
            <a:avLst/>
          </a:prstGeom>
          <a:solidFill>
            <a:srgbClr val="0F1E5A"/>
          </a:solidFill>
          <a:ln/>
        </p:spPr>
      </p:sp>
      <p:sp>
        <p:nvSpPr>
          <p:cNvPr id="31" name="Text 29"/>
          <p:cNvSpPr/>
          <p:nvPr/>
        </p:nvSpPr>
        <p:spPr>
          <a:xfrm>
            <a:off x="7668768" y="5559552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F1E5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확대 결정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822960" y="6272784"/>
            <a:ext cx="10515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8A93A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* 일정은 가정(예시), 확정 전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템플릿 쇼케이스</dc:title>
  <dc:subject>PptxGenJS Presentation</dc:subject>
  <dc:creator>상품개발팀</dc:creator>
  <cp:lastModifiedBy>상품개발팀</cp:lastModifiedBy>
  <cp:revision>1</cp:revision>
  <dcterms:created xsi:type="dcterms:W3CDTF">2026-08-11T07:52:05Z</dcterms:created>
  <dcterms:modified xsi:type="dcterms:W3CDTF">2026-08-11T07:52:05Z</dcterms:modified>
</cp:coreProperties>
</file>