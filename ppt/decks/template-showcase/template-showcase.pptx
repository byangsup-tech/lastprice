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실적표 폼 시연 — 증감 착색은 셀 tone(ok/problem)만으로, 수치 표기는 입력 그대로.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비교표 폼 시연 — hiCol로 당사 열 강조, 타사 수치는 공시 출처 확보 전 (예시).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v0.3.2 백포트 시연 — 계열 3개라 범례 스와치 자동, dataLabels로 전 계열 값, emphasisBox로 3분기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4FC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41248" y="2926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템플릿 쇼케이스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관계어 6종 + 간지, 전 장 가정(예시) 데이터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현황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핵심 지표가 목표 구간에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안착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신계약·유지율·민원 세 지표 모두 목표 범위 내에서 진행됨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651760"/>
            <a:ext cx="3413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8529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1248" y="4133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+18% (예시)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1,100건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92168" y="2651760"/>
            <a:ext cx="3413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5048" y="28529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13회차 유지율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5048" y="32918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5048" y="4133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+3.2%p (예시)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5048" y="4645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상품 대비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25968" y="2651760"/>
            <a:ext cx="3413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8848" y="28529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08848" y="32918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08848" y="4133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전분기 동일 (예시)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08848" y="4645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전건 처리 완료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수치는 전건 가정(예시), 파일럿 집계 확정 전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 방식 대안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비교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확대안이 세 평가 기준을 모두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충족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확대는 손해율 검증 전 리스크, 현행 유지는 시장 진입 시점을 놓치게 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514600"/>
            <a:ext cx="23774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35808" y="25146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 검증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70448" y="25146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부담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05088" y="25146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수용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2971800"/>
            <a:ext cx="2377440" cy="8991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971800"/>
            <a:ext cx="210312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확대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035808" y="2971800"/>
            <a:ext cx="2834640" cy="89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97180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검증 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70448" y="2971800"/>
            <a:ext cx="2834640" cy="89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97180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동시 개발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05088" y="2971800"/>
            <a:ext cx="2834640" cy="89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97180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높음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" y="3870960"/>
            <a:ext cx="2377440" cy="8991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870960"/>
            <a:ext cx="210312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확대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035808" y="3870960"/>
            <a:ext cx="2834640" cy="8991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387096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분기 검증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70448" y="3870960"/>
            <a:ext cx="2834640" cy="8991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87096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순차 개발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705088" y="3870960"/>
            <a:ext cx="2834640" cy="8991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387096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높음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" y="4770120"/>
            <a:ext cx="2377440" cy="8991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4770120"/>
            <a:ext cx="210312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유지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035808" y="4770120"/>
            <a:ext cx="2834640" cy="89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477012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여유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870448" y="4770120"/>
            <a:ext cx="2834640" cy="89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77012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없음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705088" y="4770120"/>
            <a:ext cx="2834640" cy="89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4770120"/>
            <a:ext cx="2688336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이탈 위험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8368" y="577900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충족 · △ 부분 충족 · ✕ 미충족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 변동 요인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요인 분해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 개선분의 대부분이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발생함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재산정 인수는 소폭 상승 요인이나 전환 효과가 상쇄함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 변동 요인 분해 (예시)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200400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 지수 (기준 = 100)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42516" y="3319272"/>
            <a:ext cx="777240" cy="1828800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16" name="Text 14"/>
          <p:cNvSpPr/>
          <p:nvPr/>
        </p:nvSpPr>
        <p:spPr>
          <a:xfrm>
            <a:off x="1568196" y="3081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C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31036" y="52212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35908" y="3319272"/>
            <a:ext cx="777240" cy="73152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19" name="Text 17"/>
          <p:cNvSpPr/>
          <p:nvPr/>
        </p:nvSpPr>
        <p:spPr>
          <a:xfrm>
            <a:off x="3561588" y="3081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4428" y="52212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19756" y="3319272"/>
            <a:ext cx="1216152" cy="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829300" y="3355848"/>
            <a:ext cx="777240" cy="4572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23" name="Text 21"/>
          <p:cNvSpPr/>
          <p:nvPr/>
        </p:nvSpPr>
        <p:spPr>
          <a:xfrm>
            <a:off x="5554980" y="31181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7820" y="52212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재산정 인수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3148" y="3392424"/>
            <a:ext cx="1216152" cy="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822692" y="3355848"/>
            <a:ext cx="777240" cy="45720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27" name="Text 25"/>
          <p:cNvSpPr/>
          <p:nvPr/>
        </p:nvSpPr>
        <p:spPr>
          <a:xfrm>
            <a:off x="7548372" y="31181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11212" y="52212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06540" y="3355848"/>
            <a:ext cx="1216152" cy="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599932" y="3374136"/>
            <a:ext cx="1216152" cy="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816084" y="3374136"/>
            <a:ext cx="777240" cy="1773936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32" name="Text 30"/>
          <p:cNvSpPr/>
          <p:nvPr/>
        </p:nvSpPr>
        <p:spPr>
          <a:xfrm>
            <a:off x="9541764" y="31363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04604" y="52212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34440" y="5148072"/>
            <a:ext cx="9966960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요인 분해는 가정(예시), 계리 검증 전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선순환 구조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메커니즘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개선과 보험료 인하가 서로를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재산정이 매 주기 작동해 개선 유인이 유지됨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2700000">
            <a:off x="7373743" y="2943764"/>
            <a:ext cx="438912" cy="256032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2" name="Shape 10"/>
          <p:cNvSpPr/>
          <p:nvPr/>
        </p:nvSpPr>
        <p:spPr>
          <a:xfrm rot="8100000">
            <a:off x="7373743" y="4883500"/>
            <a:ext cx="438912" cy="256032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3" name="Shape 11"/>
          <p:cNvSpPr/>
          <p:nvPr/>
        </p:nvSpPr>
        <p:spPr>
          <a:xfrm rot="13500000">
            <a:off x="4367153" y="4883500"/>
            <a:ext cx="438912" cy="256032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4" name="Shape 12"/>
          <p:cNvSpPr/>
          <p:nvPr/>
        </p:nvSpPr>
        <p:spPr>
          <a:xfrm rot="18900000">
            <a:off x="4367153" y="2943764"/>
            <a:ext cx="438912" cy="256032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38344" y="2359152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E9EFFD"/>
          </a:solidFill>
          <a:ln w="12700">
            <a:solidFill>
              <a:srgbClr val="174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235915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개선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64324" y="3730752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E9EFFD"/>
          </a:solidFill>
          <a:ln w="12700">
            <a:solidFill>
              <a:srgbClr val="174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4324" y="373075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하향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38344" y="5102352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E9EFFD"/>
          </a:solidFill>
          <a:ln w="12700">
            <a:solidFill>
              <a:srgbClr val="174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8344" y="510235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인하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12364" y="3730752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E9EFFD"/>
          </a:solidFill>
          <a:ln w="12700">
            <a:solidFill>
              <a:srgbClr val="174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12364" y="373075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유지율 상승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58384" y="3310128"/>
            <a:ext cx="1463040" cy="1463040"/>
          </a:xfrm>
          <a:prstGeom prst="ellipse">
            <a:avLst/>
          </a:prstGeom>
          <a:solidFill>
            <a:srgbClr val="0F1E5A"/>
          </a:solidFill>
          <a:ln/>
        </p:spPr>
      </p:sp>
      <p:sp>
        <p:nvSpPr>
          <p:cNvPr id="24" name="Text 22"/>
          <p:cNvSpPr/>
          <p:nvPr/>
        </p:nvSpPr>
        <p:spPr>
          <a:xfrm>
            <a:off x="5358384" y="331012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구성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구성에서 GA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비중이 확대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전속·TM 비중은 완만히 축소되는 구성임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채널별 판매 구성비 (예시)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200400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4240987"/>
            <a:ext cx="1097280" cy="998525"/>
          </a:xfrm>
          <a:prstGeom prst="rect">
            <a:avLst/>
          </a:prstGeom>
          <a:solidFill>
            <a:srgbClr val="1743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240987"/>
            <a:ext cx="1097280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 52%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63052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3664915"/>
            <a:ext cx="1097280" cy="576072"/>
          </a:xfrm>
          <a:prstGeom prst="rect">
            <a:avLst/>
          </a:prstGeom>
          <a:solidFill>
            <a:srgbClr val="4FC8D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664915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 30%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4322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3319272"/>
            <a:ext cx="1097280" cy="345643"/>
          </a:xfrm>
          <a:prstGeom prst="rect">
            <a:avLst/>
          </a:prstGeom>
          <a:solidFill>
            <a:srgbClr val="7C86F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319272"/>
            <a:ext cx="109728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 18%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8236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5312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4068166"/>
            <a:ext cx="1097280" cy="1171346"/>
          </a:xfrm>
          <a:prstGeom prst="rect">
            <a:avLst/>
          </a:prstGeom>
          <a:solidFill>
            <a:srgbClr val="1743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068166"/>
            <a:ext cx="1097280" cy="11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 61%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23760" y="3588106"/>
            <a:ext cx="1097280" cy="480060"/>
          </a:xfrm>
          <a:prstGeom prst="rect">
            <a:avLst/>
          </a:prstGeom>
          <a:solidFill>
            <a:srgbClr val="4FC8D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588106"/>
            <a:ext cx="1097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 25%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23760" y="3319272"/>
            <a:ext cx="1097280" cy="268834"/>
          </a:xfrm>
          <a:prstGeom prst="rect">
            <a:avLst/>
          </a:prstGeom>
          <a:solidFill>
            <a:srgbClr val="7C86F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319272"/>
            <a:ext cx="10972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5312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34440" y="5239512"/>
            <a:ext cx="9144000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구성비는 가정(예시), '26은 계획 수치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분기에 걸쳐 검증과 개발을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진행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 결정은 계리 검증 종료 시점에 수행함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0048" y="2514600"/>
            <a:ext cx="295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'26.3Q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0048" y="2898648"/>
            <a:ext cx="0" cy="260604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6608" y="2514600"/>
            <a:ext cx="295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'26.4Q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6608" y="2898648"/>
            <a:ext cx="0" cy="260604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83168" y="2514600"/>
            <a:ext cx="295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'27.1Q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168" y="2898648"/>
            <a:ext cx="0" cy="260604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39728" y="2898648"/>
            <a:ext cx="0" cy="260604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767328"/>
            <a:ext cx="1088136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8986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24912" y="3140964"/>
            <a:ext cx="5803392" cy="384048"/>
          </a:xfrm>
          <a:prstGeom prst="roundRect">
            <a:avLst>
              <a:gd name="adj" fmla="val 19048"/>
            </a:avLst>
          </a:prstGeom>
          <a:solidFill>
            <a:srgbClr val="DFF6FA"/>
          </a:solidFill>
          <a:ln w="12700">
            <a:solidFill>
              <a:srgbClr val="4FC8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8064" y="3140964"/>
            <a:ext cx="565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D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무사고·사망률 상관 검증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4636008"/>
            <a:ext cx="1088136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6732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24912" y="4009644"/>
            <a:ext cx="2846832" cy="384048"/>
          </a:xfrm>
          <a:prstGeom prst="roundRect">
            <a:avLst>
              <a:gd name="adj" fmla="val 19048"/>
            </a:avLst>
          </a:prstGeom>
          <a:solidFill>
            <a:srgbClr val="ECEEFD"/>
          </a:solidFill>
          <a:ln w="12700">
            <a:solidFill>
              <a:srgbClr val="7C86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98064" y="4009644"/>
            <a:ext cx="270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 분류 협의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5504688"/>
            <a:ext cx="1088136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6360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81472" y="4878324"/>
            <a:ext cx="5803392" cy="384048"/>
          </a:xfrm>
          <a:prstGeom prst="roundRect">
            <a:avLst>
              <a:gd name="adj" fmla="val 19048"/>
            </a:avLst>
          </a:prstGeom>
          <a:solidFill>
            <a:srgbClr val="E9EFFD"/>
          </a:solidFill>
          <a:ln w="12700">
            <a:solidFill>
              <a:srgbClr val="174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4624" y="4878324"/>
            <a:ext cx="565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재산정 모듈 개발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0872" y="2807208"/>
            <a:ext cx="164592" cy="164592"/>
          </a:xfrm>
          <a:prstGeom prst="diamond">
            <a:avLst/>
          </a:prstGeom>
          <a:solidFill>
            <a:srgbClr val="0F1E5A"/>
          </a:solidFill>
          <a:ln/>
        </p:spPr>
      </p:sp>
      <p:sp>
        <p:nvSpPr>
          <p:cNvPr id="31" name="Text 29"/>
          <p:cNvSpPr/>
          <p:nvPr/>
        </p:nvSpPr>
        <p:spPr>
          <a:xfrm>
            <a:off x="7668768" y="5559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 결정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일정은 가정(예시), 확정 전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 4개 중 3개가 계획을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달성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미달 1개(손해율)는 요인 분석 후 다음 달 대응 방향을 보고함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핵심 지표, 계획 대비 (예시)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건·억원 (예시)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3580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7044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0508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3200400"/>
            <a:ext cx="2377440" cy="61722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255264"/>
            <a:ext cx="21031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" y="3521354"/>
            <a:ext cx="2103120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월납 환산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35808" y="320040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20040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1,100건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70448" y="320040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20040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05088" y="320040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320040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" y="3817620"/>
            <a:ext cx="2377440" cy="61722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3817620"/>
            <a:ext cx="2103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수익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35808" y="381762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381762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84억원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70448" y="381762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81762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91억원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705088" y="381762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381762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8368" y="4434840"/>
            <a:ext cx="2377440" cy="61722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434840"/>
            <a:ext cx="2103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13회차 유지율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35808" y="443484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443484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870448" y="443484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43484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705088" y="443484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443484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58368" y="5052060"/>
            <a:ext cx="2377440" cy="61722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" y="5052060"/>
            <a:ext cx="2103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35808" y="505206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505206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82%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870448" y="505206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505206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705088" y="5052060"/>
            <a:ext cx="2834640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0" y="5052060"/>
            <a:ext cx="2688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미달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수치는 전건 가정(예시), 실제 월간 집계로 대체 필요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계열사 비교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성장률과 유지율에서 당사가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상위권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유지함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손해율은 업계 평균 수준으로, 성장 중심 지표에서 우위가 확인됨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지표 사별 비교 (예시)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35808" y="2743200"/>
            <a:ext cx="2125980" cy="457200"/>
          </a:xfrm>
          <a:prstGeom prst="rect">
            <a:avLst/>
          </a:prstGeom>
          <a:solidFill>
            <a:srgbClr val="1743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27432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1788" y="2743200"/>
            <a:ext cx="212598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1788" y="27432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87768" y="2743200"/>
            <a:ext cx="212598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7768" y="27432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13748" y="2743200"/>
            <a:ext cx="212598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3748" y="27432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320040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 성장률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35808" y="3200400"/>
            <a:ext cx="212598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20040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+18%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61788" y="320040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4940" y="320040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+9%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87768" y="320040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20040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+12%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413748" y="320040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86900" y="320040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402336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13회차 유지율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35808" y="4023360"/>
            <a:ext cx="212598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02336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161788" y="402336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4940" y="402336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287768" y="402336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402336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413748" y="402336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86900" y="402336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8368" y="484632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35808" y="4846320"/>
            <a:ext cx="212598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484632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161788" y="484632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4940" y="484632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287768" y="484632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484632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88%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413748" y="4846320"/>
            <a:ext cx="21259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86900" y="4846320"/>
            <a:ext cx="1979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86%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수치는 전건 가정(예시), 공시 자료 기준으로 대체 필요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쇼케이스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실적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비교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3분기 신계약이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채널에서 하락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채널별 하락 요인 분석 후 4분기 회복 방안을 보고함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채널별 신계약, 분기 추이 (예시)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200400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 (백건)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01300" y="2743200"/>
            <a:ext cx="891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합계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218420" y="2770632"/>
            <a:ext cx="146304" cy="146304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17" name="Text 15"/>
          <p:cNvSpPr/>
          <p:nvPr/>
        </p:nvSpPr>
        <p:spPr>
          <a:xfrm>
            <a:off x="9569196" y="2743200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386316" y="2770632"/>
            <a:ext cx="146304" cy="146304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19" name="Text 17"/>
          <p:cNvSpPr/>
          <p:nvPr/>
        </p:nvSpPr>
        <p:spPr>
          <a:xfrm>
            <a:off x="8737092" y="2743200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방카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54212" y="2770632"/>
            <a:ext cx="146304" cy="146304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21" name="Shape 19"/>
          <p:cNvSpPr/>
          <p:nvPr/>
        </p:nvSpPr>
        <p:spPr>
          <a:xfrm>
            <a:off x="1990344" y="4310888"/>
            <a:ext cx="566928" cy="76403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22" name="Text 20"/>
          <p:cNvSpPr/>
          <p:nvPr/>
        </p:nvSpPr>
        <p:spPr>
          <a:xfrm>
            <a:off x="1807464" y="409143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12136" y="4501896"/>
            <a:ext cx="566928" cy="573024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24" name="Text 22"/>
          <p:cNvSpPr/>
          <p:nvPr/>
        </p:nvSpPr>
        <p:spPr>
          <a:xfrm>
            <a:off x="2429256" y="428244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33928" y="3546856"/>
            <a:ext cx="566928" cy="1528064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26" name="Text 24"/>
          <p:cNvSpPr/>
          <p:nvPr/>
        </p:nvSpPr>
        <p:spPr>
          <a:xfrm>
            <a:off x="3233928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09800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2664" y="4247219"/>
            <a:ext cx="566928" cy="827701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29784" y="4027763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34456" y="4374557"/>
            <a:ext cx="566928" cy="700363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31" name="Text 29"/>
          <p:cNvSpPr/>
          <p:nvPr/>
        </p:nvSpPr>
        <p:spPr>
          <a:xfrm>
            <a:off x="5751576" y="4155101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56248" y="3355848"/>
            <a:ext cx="566928" cy="1719072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33" name="Text 31"/>
          <p:cNvSpPr/>
          <p:nvPr/>
        </p:nvSpPr>
        <p:spPr>
          <a:xfrm>
            <a:off x="6556248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34984" y="4438227"/>
            <a:ext cx="566928" cy="636693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36" name="Text 34"/>
          <p:cNvSpPr/>
          <p:nvPr/>
        </p:nvSpPr>
        <p:spPr>
          <a:xfrm>
            <a:off x="8452104" y="4218771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256776" y="4565565"/>
            <a:ext cx="566928" cy="509355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38" name="Text 36"/>
          <p:cNvSpPr/>
          <p:nvPr/>
        </p:nvSpPr>
        <p:spPr>
          <a:xfrm>
            <a:off x="9073896" y="4346109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878568" y="3865203"/>
            <a:ext cx="566928" cy="1209717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40" name="Text 38"/>
          <p:cNvSpPr/>
          <p:nvPr/>
        </p:nvSpPr>
        <p:spPr>
          <a:xfrm>
            <a:off x="9878568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854440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234440" y="5074920"/>
            <a:ext cx="9966960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33944" y="3044952"/>
            <a:ext cx="3212592" cy="2578608"/>
          </a:xfrm>
          <a:prstGeom prst="roundRect">
            <a:avLst>
              <a:gd name="adj" fmla="val 2128"/>
            </a:avLst>
          </a:prstGeom>
          <a:ln w="15875">
            <a:solidFill>
              <a:srgbClr val="C6392E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수치는 전건 가정(예시), 채널 집계 확정 전. 범례·전 계열 값 라벨·강조 박스 옵션 시연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템플릿 쇼케이스</dc:title>
  <dc:subject>PptxGenJS Presentation</dc:subject>
  <dc:creator>상품개발팀</dc:creator>
  <cp:lastModifiedBy>상품개발팀</cp:lastModifiedBy>
  <cp:revision>1</cp:revision>
  <dcterms:created xsi:type="dcterms:W3CDTF">2026-08-14T03:08:28Z</dcterms:created>
  <dcterms:modified xsi:type="dcterms:W3CDTF">2026-08-14T03:08:28Z</dcterms:modified>
</cp:coreProperties>
</file>