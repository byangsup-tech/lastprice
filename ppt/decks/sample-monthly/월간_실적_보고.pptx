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3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월간 실적 보고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2918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실적 요약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418320" y="402336"/>
            <a:ext cx="2432304" cy="402336"/>
          </a:xfrm>
          <a:prstGeom prst="roundRect">
            <a:avLst>
              <a:gd name="adj" fmla="val 50000"/>
            </a:avLst>
          </a:prstGeom>
          <a:solidFill>
            <a:srgbClr val="4FC8DF"/>
          </a:solidFill>
          <a:ln/>
        </p:spPr>
      </p:sp>
      <p:sp>
        <p:nvSpPr>
          <p:cNvPr id="5" name="Text 3"/>
          <p:cNvSpPr/>
          <p:nvPr/>
        </p:nvSpPr>
        <p:spPr>
          <a:xfrm>
            <a:off x="9418320" y="402336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9184" y="1005840"/>
            <a:ext cx="11530584" cy="5541264"/>
          </a:xfrm>
          <a:prstGeom prst="roundRect">
            <a:avLst>
              <a:gd name="adj" fmla="val 990"/>
            </a:avLst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75720" y="65836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1243584"/>
            <a:ext cx="64008" cy="457200"/>
          </a:xfrm>
          <a:prstGeom prst="rect">
            <a:avLst/>
          </a:prstGeom>
          <a:solidFill>
            <a:srgbClr val="0F1E5A"/>
          </a:solidFill>
          <a:ln/>
        </p:spPr>
      </p:sp>
      <p:sp>
        <p:nvSpPr>
          <p:cNvPr id="9" name="Text 7"/>
          <p:cNvSpPr/>
          <p:nvPr/>
        </p:nvSpPr>
        <p:spPr>
          <a:xfrm>
            <a:off x="859536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지표 3개 중 2개가 계획을 </a:t>
            </a:r>
            <a:pPr algn="l" indent="0" marL="0">
              <a:buNone/>
            </a:pPr>
            <a:r>
              <a:rPr lang="en-US" sz="1900" b="1" dirty="0">
                <a:solidFill>
                  <a:srgbClr val="1F2A44"/>
                </a:solidFill>
                <a:highlight>
                  <a:srgbClr val="FFF04D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초과 달성</a:t>
            </a:r>
            <a:pPr algn="l"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77824" y="17922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손해율은 계획을 상회하여 요인 분석을 병행함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" y="2651760"/>
            <a:ext cx="34137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2852928"/>
            <a:ext cx="304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신계약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41248" y="3291840"/>
            <a:ext cx="304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1,240건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41248" y="4133088"/>
            <a:ext cx="304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E8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전월 대비 증가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41248" y="4645152"/>
            <a:ext cx="304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A93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 1,100건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392168" y="2651760"/>
            <a:ext cx="34137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5048" y="2852928"/>
            <a:ext cx="304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보험료 수익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5048" y="3291840"/>
            <a:ext cx="304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91억원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575048" y="4133088"/>
            <a:ext cx="304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E8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계획 초과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5048" y="4645152"/>
            <a:ext cx="304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A93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계획 84억원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125968" y="2651760"/>
            <a:ext cx="34137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08848" y="2852928"/>
            <a:ext cx="304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손해율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308848" y="3291840"/>
            <a:ext cx="304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85%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8308848" y="4133088"/>
            <a:ext cx="304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C639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계획 상회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308848" y="4645152"/>
            <a:ext cx="304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A93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계획 82%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22960" y="6272784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93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 자료: 예시 데이터(테스트용), 2026-07 기준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3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월간 실적 보고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2918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계획 대비 실적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418320" y="402336"/>
            <a:ext cx="2432304" cy="402336"/>
          </a:xfrm>
          <a:prstGeom prst="roundRect">
            <a:avLst>
              <a:gd name="adj" fmla="val 50000"/>
            </a:avLst>
          </a:prstGeom>
          <a:solidFill>
            <a:srgbClr val="4FC8DF"/>
          </a:solidFill>
          <a:ln/>
        </p:spPr>
      </p:sp>
      <p:sp>
        <p:nvSpPr>
          <p:cNvPr id="5" name="Text 3"/>
          <p:cNvSpPr/>
          <p:nvPr/>
        </p:nvSpPr>
        <p:spPr>
          <a:xfrm>
            <a:off x="9418320" y="402336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실적표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9184" y="1005840"/>
            <a:ext cx="11530584" cy="5541264"/>
          </a:xfrm>
          <a:prstGeom prst="roundRect">
            <a:avLst>
              <a:gd name="adj" fmla="val 990"/>
            </a:avLst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75720" y="65836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1243584"/>
            <a:ext cx="64008" cy="457200"/>
          </a:xfrm>
          <a:prstGeom prst="rect">
            <a:avLst/>
          </a:prstGeom>
          <a:solidFill>
            <a:srgbClr val="0F1E5A"/>
          </a:solidFill>
          <a:ln/>
        </p:spPr>
      </p:sp>
      <p:sp>
        <p:nvSpPr>
          <p:cNvPr id="9" name="Text 7"/>
          <p:cNvSpPr/>
          <p:nvPr/>
        </p:nvSpPr>
        <p:spPr>
          <a:xfrm>
            <a:off x="859536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신계약과 보험료 수익이 계획 대비 </a:t>
            </a:r>
            <a:pPr algn="l" indent="0" marL="0">
              <a:buNone/>
            </a:pPr>
            <a:r>
              <a:rPr lang="en-US" sz="1900" b="1" dirty="0">
                <a:solidFill>
                  <a:srgbClr val="1F2A44"/>
                </a:solidFill>
                <a:highlight>
                  <a:srgbClr val="FFF04D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100%를 초과</a:t>
            </a:r>
            <a:pPr algn="l"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58368" y="2267712"/>
            <a:ext cx="10881360" cy="365760"/>
          </a:xfrm>
          <a:prstGeom prst="rect">
            <a:avLst/>
          </a:prstGeom>
          <a:solidFill>
            <a:srgbClr val="0F1E5A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26771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월간 핵심 지표, 계획 대비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" y="2468880"/>
            <a:ext cx="10881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단위: 건·억원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58368" y="2743200"/>
            <a:ext cx="2377440" cy="457200"/>
          </a:xfrm>
          <a:prstGeom prst="rect">
            <a:avLst/>
          </a:prstGeom>
          <a:solidFill>
            <a:srgbClr val="0F1E5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743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035808" y="2743200"/>
            <a:ext cx="2834640" cy="457200"/>
          </a:xfrm>
          <a:prstGeom prst="rect">
            <a:avLst/>
          </a:prstGeom>
          <a:solidFill>
            <a:srgbClr val="0F1E5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35808" y="27432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계획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870448" y="2743200"/>
            <a:ext cx="2834640" cy="457200"/>
          </a:xfrm>
          <a:prstGeom prst="rect">
            <a:avLst/>
          </a:prstGeom>
          <a:solidFill>
            <a:srgbClr val="0F1E5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70448" y="27432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실적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705088" y="2743200"/>
            <a:ext cx="2834640" cy="457200"/>
          </a:xfrm>
          <a:prstGeom prst="rect">
            <a:avLst/>
          </a:prstGeom>
          <a:solidFill>
            <a:srgbClr val="1743E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05088" y="27432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달성률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58368" y="3200400"/>
            <a:ext cx="2377440" cy="822960"/>
          </a:xfrm>
          <a:prstGeom prst="rect">
            <a:avLst/>
          </a:prstGeom>
          <a:solidFill>
            <a:srgbClr val="ECEFF3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5528" y="325526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신계약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95528" y="3628339"/>
            <a:ext cx="210312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월납 환산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035808" y="3200400"/>
            <a:ext cx="28346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08960" y="3200400"/>
            <a:ext cx="26883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1,100건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870448" y="3200400"/>
            <a:ext cx="28346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3200400"/>
            <a:ext cx="26883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1,240건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705088" y="3200400"/>
            <a:ext cx="2834640" cy="822960"/>
          </a:xfrm>
          <a:prstGeom prst="rect">
            <a:avLst/>
          </a:prstGeom>
          <a:solidFill>
            <a:srgbClr val="E9EFFD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78240" y="3200400"/>
            <a:ext cx="26883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8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113%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58368" y="4023360"/>
            <a:ext cx="2377440" cy="822960"/>
          </a:xfrm>
          <a:prstGeom prst="rect">
            <a:avLst/>
          </a:prstGeom>
          <a:solidFill>
            <a:srgbClr val="ECEFF3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5528" y="40233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보험료 수익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035808" y="4023360"/>
            <a:ext cx="28346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08960" y="4023360"/>
            <a:ext cx="26883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84억원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870448" y="4023360"/>
            <a:ext cx="28346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0" y="4023360"/>
            <a:ext cx="26883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91억원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705088" y="4023360"/>
            <a:ext cx="2834640" cy="822960"/>
          </a:xfrm>
          <a:prstGeom prst="rect">
            <a:avLst/>
          </a:prstGeom>
          <a:solidFill>
            <a:srgbClr val="E9EFFD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778240" y="4023360"/>
            <a:ext cx="26883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8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108%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58368" y="4846320"/>
            <a:ext cx="2377440" cy="822960"/>
          </a:xfrm>
          <a:prstGeom prst="rect">
            <a:avLst/>
          </a:prstGeom>
          <a:solidFill>
            <a:srgbClr val="ECEFF3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95528" y="48463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13회차 유지율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035808" y="4846320"/>
            <a:ext cx="28346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108960" y="4846320"/>
            <a:ext cx="26883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85%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5870448" y="4846320"/>
            <a:ext cx="28346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43600" y="4846320"/>
            <a:ext cx="26883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87%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8705088" y="4846320"/>
            <a:ext cx="2834640" cy="822960"/>
          </a:xfrm>
          <a:prstGeom prst="rect">
            <a:avLst/>
          </a:prstGeom>
          <a:solidFill>
            <a:srgbClr val="E9EFFD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778240" y="4846320"/>
            <a:ext cx="26883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8A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102%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822960" y="6272784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93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 자료: 예시 데이터(테스트용), 2026-07 기준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3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월간 실적 보고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2918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계열사 비교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418320" y="402336"/>
            <a:ext cx="2432304" cy="402336"/>
          </a:xfrm>
          <a:prstGeom prst="roundRect">
            <a:avLst>
              <a:gd name="adj" fmla="val 50000"/>
            </a:avLst>
          </a:prstGeom>
          <a:solidFill>
            <a:srgbClr val="4FC8DF"/>
          </a:solidFill>
          <a:ln/>
        </p:spPr>
      </p:sp>
      <p:sp>
        <p:nvSpPr>
          <p:cNvPr id="5" name="Text 3"/>
          <p:cNvSpPr/>
          <p:nvPr/>
        </p:nvSpPr>
        <p:spPr>
          <a:xfrm>
            <a:off x="9418320" y="402336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비교표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9184" y="1005840"/>
            <a:ext cx="11530584" cy="5541264"/>
          </a:xfrm>
          <a:prstGeom prst="roundRect">
            <a:avLst>
              <a:gd name="adj" fmla="val 990"/>
            </a:avLst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75720" y="65836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1243584"/>
            <a:ext cx="64008" cy="457200"/>
          </a:xfrm>
          <a:prstGeom prst="rect">
            <a:avLst/>
          </a:prstGeom>
          <a:solidFill>
            <a:srgbClr val="0F1E5A"/>
          </a:solidFill>
          <a:ln/>
        </p:spPr>
      </p:sp>
      <p:sp>
        <p:nvSpPr>
          <p:cNvPr id="9" name="Text 7"/>
          <p:cNvSpPr/>
          <p:nvPr/>
        </p:nvSpPr>
        <p:spPr>
          <a:xfrm>
            <a:off x="859536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성장률과 유지율에서 당사가 </a:t>
            </a:r>
            <a:pPr algn="l" indent="0" marL="0">
              <a:buNone/>
            </a:pPr>
            <a:r>
              <a:rPr lang="en-US" sz="1900" b="1" dirty="0">
                <a:solidFill>
                  <a:srgbClr val="1F2A44"/>
                </a:solidFill>
                <a:highlight>
                  <a:srgbClr val="FFF04D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우위</a:t>
            </a:r>
            <a:pPr algn="l"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유지함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77824" y="17922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손해율은 업계 평균 수준으로 관리되고 있음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" y="2267712"/>
            <a:ext cx="10881360" cy="365760"/>
          </a:xfrm>
          <a:prstGeom prst="rect">
            <a:avLst/>
          </a:prstGeom>
          <a:solidFill>
            <a:srgbClr val="0F1E5A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26771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지표 사별 비교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8368" y="2743200"/>
            <a:ext cx="2377440" cy="457200"/>
          </a:xfrm>
          <a:prstGeom prst="rect">
            <a:avLst/>
          </a:prstGeom>
          <a:solidFill>
            <a:srgbClr val="0F1E5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743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구분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035808" y="2743200"/>
            <a:ext cx="2834640" cy="457200"/>
          </a:xfrm>
          <a:prstGeom prst="rect">
            <a:avLst/>
          </a:prstGeom>
          <a:solidFill>
            <a:srgbClr val="1743E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35808" y="27432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당사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870448" y="2743200"/>
            <a:ext cx="2834640" cy="457200"/>
          </a:xfrm>
          <a:prstGeom prst="rect">
            <a:avLst/>
          </a:prstGeom>
          <a:solidFill>
            <a:srgbClr val="0F1E5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70448" y="27432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A생명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705088" y="2743200"/>
            <a:ext cx="2834640" cy="457200"/>
          </a:xfrm>
          <a:prstGeom prst="rect">
            <a:avLst/>
          </a:prstGeom>
          <a:solidFill>
            <a:srgbClr val="0F1E5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05088" y="27432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B생명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58368" y="3200400"/>
            <a:ext cx="2377440" cy="822960"/>
          </a:xfrm>
          <a:prstGeom prst="rect">
            <a:avLst/>
          </a:prstGeom>
          <a:solidFill>
            <a:srgbClr val="ECEFF3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5528" y="32004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신계약 성장률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035808" y="3200400"/>
            <a:ext cx="2834640" cy="822960"/>
          </a:xfrm>
          <a:prstGeom prst="rect">
            <a:avLst/>
          </a:prstGeom>
          <a:solidFill>
            <a:srgbClr val="E9EFFD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08960" y="3200400"/>
            <a:ext cx="26883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+18%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870448" y="3200400"/>
            <a:ext cx="28346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0" y="3200400"/>
            <a:ext cx="26883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+9%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705088" y="3200400"/>
            <a:ext cx="28346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78240" y="3200400"/>
            <a:ext cx="26883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+12%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58368" y="4023360"/>
            <a:ext cx="2377440" cy="822960"/>
          </a:xfrm>
          <a:prstGeom prst="rect">
            <a:avLst/>
          </a:prstGeom>
          <a:solidFill>
            <a:srgbClr val="ECEFF3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0233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13회차 유지율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035808" y="4023360"/>
            <a:ext cx="2834640" cy="822960"/>
          </a:xfrm>
          <a:prstGeom prst="rect">
            <a:avLst/>
          </a:prstGeom>
          <a:solidFill>
            <a:srgbClr val="E9EFFD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08960" y="4023360"/>
            <a:ext cx="26883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87%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870448" y="4023360"/>
            <a:ext cx="28346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0" y="4023360"/>
            <a:ext cx="26883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84%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705088" y="4023360"/>
            <a:ext cx="28346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778240" y="4023360"/>
            <a:ext cx="26883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81%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58368" y="4846320"/>
            <a:ext cx="2377440" cy="822960"/>
          </a:xfrm>
          <a:prstGeom prst="rect">
            <a:avLst/>
          </a:prstGeom>
          <a:solidFill>
            <a:srgbClr val="ECEFF3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5528" y="48463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손해율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035808" y="4846320"/>
            <a:ext cx="2834640" cy="822960"/>
          </a:xfrm>
          <a:prstGeom prst="rect">
            <a:avLst/>
          </a:prstGeom>
          <a:solidFill>
            <a:srgbClr val="E9EFFD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108960" y="4846320"/>
            <a:ext cx="26883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85%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870448" y="4846320"/>
            <a:ext cx="28346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0" y="4846320"/>
            <a:ext cx="26883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83%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8705088" y="4846320"/>
            <a:ext cx="28346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778240" y="4846320"/>
            <a:ext cx="26883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88%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822960" y="6272784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93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 자료: 예시 데이터(테스트용), 2026-06 기준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3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월간 실적 보고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2918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보험료 추이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418320" y="402336"/>
            <a:ext cx="2432304" cy="402336"/>
          </a:xfrm>
          <a:prstGeom prst="roundRect">
            <a:avLst>
              <a:gd name="adj" fmla="val 50000"/>
            </a:avLst>
          </a:prstGeom>
          <a:solidFill>
            <a:srgbClr val="4FC8DF"/>
          </a:solidFill>
          <a:ln/>
        </p:spPr>
      </p:sp>
      <p:sp>
        <p:nvSpPr>
          <p:cNvPr id="5" name="Text 3"/>
          <p:cNvSpPr/>
          <p:nvPr/>
        </p:nvSpPr>
        <p:spPr>
          <a:xfrm>
            <a:off x="9418320" y="402336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추세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9184" y="1005840"/>
            <a:ext cx="11530584" cy="5541264"/>
          </a:xfrm>
          <a:prstGeom prst="roundRect">
            <a:avLst>
              <a:gd name="adj" fmla="val 990"/>
            </a:avLst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75720" y="65836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1243584"/>
            <a:ext cx="64008" cy="457200"/>
          </a:xfrm>
          <a:prstGeom prst="rect">
            <a:avLst/>
          </a:prstGeom>
          <a:solidFill>
            <a:srgbClr val="0F1E5A"/>
          </a:solidFill>
          <a:ln/>
        </p:spPr>
      </p:sp>
      <p:sp>
        <p:nvSpPr>
          <p:cNvPr id="9" name="Text 7"/>
          <p:cNvSpPr/>
          <p:nvPr/>
        </p:nvSpPr>
        <p:spPr>
          <a:xfrm>
            <a:off x="859536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월초 보험료가 5개월 연속 </a:t>
            </a:r>
            <a:pPr algn="l" indent="0" marL="0">
              <a:buNone/>
            </a:pPr>
            <a:r>
              <a:rPr lang="en-US" sz="1900" b="1" dirty="0">
                <a:solidFill>
                  <a:srgbClr val="1F2A44"/>
                </a:solidFill>
                <a:highlight>
                  <a:srgbClr val="FFF04D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증가</a:t>
            </a:r>
            <a:pPr algn="l"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58368" y="2267712"/>
            <a:ext cx="10881360" cy="365760"/>
          </a:xfrm>
          <a:prstGeom prst="rect">
            <a:avLst/>
          </a:prstGeom>
          <a:solidFill>
            <a:srgbClr val="0F1E5A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26771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월초 보험료 월별 추이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8368" y="2633472"/>
            <a:ext cx="10881360" cy="3200400"/>
          </a:xfrm>
          <a:prstGeom prst="rect">
            <a:avLst/>
          </a:prstGeom>
          <a:solidFill>
            <a:srgbClr val="FBFCFE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34440" y="5239512"/>
            <a:ext cx="9966960" cy="0"/>
          </a:xfrm>
          <a:prstGeom prst="line">
            <a:avLst/>
          </a:prstGeom>
          <a:noFill/>
          <a:ln w="12700">
            <a:solidFill>
              <a:srgbClr val="5A647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1645920" y="4613720"/>
            <a:ext cx="2263140" cy="488632"/>
          </a:xfrm>
          <a:prstGeom prst="line">
            <a:avLst/>
          </a:prstGeom>
          <a:noFill/>
          <a:ln w="20320">
            <a:solidFill>
              <a:srgbClr val="1F2A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3909060" y="4179379"/>
            <a:ext cx="2263140" cy="434340"/>
          </a:xfrm>
          <a:prstGeom prst="line">
            <a:avLst/>
          </a:prstGeom>
          <a:noFill/>
          <a:ln w="20320">
            <a:solidFill>
              <a:srgbClr val="1F2A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6172200" y="3799332"/>
            <a:ext cx="2263140" cy="380047"/>
          </a:xfrm>
          <a:prstGeom prst="line">
            <a:avLst/>
          </a:prstGeom>
          <a:noFill/>
          <a:ln w="20320">
            <a:solidFill>
              <a:srgbClr val="1F2A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8435340" y="3364992"/>
            <a:ext cx="2263140" cy="434340"/>
          </a:xfrm>
          <a:prstGeom prst="line">
            <a:avLst/>
          </a:prstGeom>
          <a:noFill/>
          <a:ln w="20320">
            <a:solidFill>
              <a:srgbClr val="1F2A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95628" y="5052060"/>
            <a:ext cx="100584" cy="100584"/>
          </a:xfrm>
          <a:prstGeom prst="ellipse">
            <a:avLst/>
          </a:prstGeom>
          <a:solidFill>
            <a:srgbClr val="C3C9D4"/>
          </a:solidFill>
          <a:ln/>
        </p:spPr>
      </p:sp>
      <p:sp>
        <p:nvSpPr>
          <p:cNvPr id="19" name="Text 17"/>
          <p:cNvSpPr/>
          <p:nvPr/>
        </p:nvSpPr>
        <p:spPr>
          <a:xfrm>
            <a:off x="1188720" y="479145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62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60120" y="5303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3월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858768" y="4563428"/>
            <a:ext cx="100584" cy="100584"/>
          </a:xfrm>
          <a:prstGeom prst="ellipse">
            <a:avLst/>
          </a:prstGeom>
          <a:solidFill>
            <a:srgbClr val="C3C9D4"/>
          </a:solidFill>
          <a:ln/>
        </p:spPr>
      </p:sp>
      <p:sp>
        <p:nvSpPr>
          <p:cNvPr id="22" name="Text 20"/>
          <p:cNvSpPr/>
          <p:nvPr/>
        </p:nvSpPr>
        <p:spPr>
          <a:xfrm>
            <a:off x="3451860" y="430282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71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223260" y="5303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4월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1908" y="4129088"/>
            <a:ext cx="100584" cy="100584"/>
          </a:xfrm>
          <a:prstGeom prst="ellipse">
            <a:avLst/>
          </a:prstGeom>
          <a:solidFill>
            <a:srgbClr val="C3C9D4"/>
          </a:solidFill>
          <a:ln/>
        </p:spPr>
      </p:sp>
      <p:sp>
        <p:nvSpPr>
          <p:cNvPr id="25" name="Text 23"/>
          <p:cNvSpPr/>
          <p:nvPr/>
        </p:nvSpPr>
        <p:spPr>
          <a:xfrm>
            <a:off x="5715000" y="386848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79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486400" y="5303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5월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385048" y="3749040"/>
            <a:ext cx="100584" cy="100584"/>
          </a:xfrm>
          <a:prstGeom prst="ellipse">
            <a:avLst/>
          </a:prstGeom>
          <a:solidFill>
            <a:srgbClr val="C3C9D4"/>
          </a:solidFill>
          <a:ln/>
        </p:spPr>
      </p:sp>
      <p:sp>
        <p:nvSpPr>
          <p:cNvPr id="28" name="Text 26"/>
          <p:cNvSpPr/>
          <p:nvPr/>
        </p:nvSpPr>
        <p:spPr>
          <a:xfrm>
            <a:off x="7978140" y="348843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86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749540" y="5303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6월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0616184" y="3282696"/>
            <a:ext cx="164592" cy="164592"/>
          </a:xfrm>
          <a:prstGeom prst="ellipse">
            <a:avLst/>
          </a:prstGeom>
          <a:solidFill>
            <a:srgbClr val="1743E0"/>
          </a:solidFill>
          <a:ln/>
        </p:spPr>
      </p:sp>
      <p:sp>
        <p:nvSpPr>
          <p:cNvPr id="31" name="Text 29"/>
          <p:cNvSpPr/>
          <p:nvPr/>
        </p:nvSpPr>
        <p:spPr>
          <a:xfrm>
            <a:off x="10241280" y="305409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43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94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0012680" y="5303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7월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686800" y="279806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743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증가 추세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22960" y="6272784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93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 자료: 예시 데이터(테스트용), 2026-07 기준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월간 실적 보고 (파이프라인 픽스처)</dc:title>
  <dc:subject>PptxGenJS Presentation</dc:subject>
  <dc:creator>PptxGenJS</dc:creator>
  <cp:lastModifiedBy>PptxGenJS</cp:lastModifiedBy>
  <cp:revision>1</cp:revision>
  <dcterms:created xsi:type="dcterms:W3CDTF">2026-08-14T02:59:07Z</dcterms:created>
  <dcterms:modified xsi:type="dcterms:W3CDTF">2026-08-14T02:59:07Z</dcterms:modified>
</cp:coreProperties>
</file>